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Lst>
  <p:sldSz cx="18288000" cy="10287000"/>
  <p:notesSz cx="6858000" cy="9144000"/>
  <p:embeddedFontLst>
    <p:embeddedFont>
      <p:font typeface="Arimo" charset="1" panose="020B0604020202020204"/>
      <p:regular r:id="rId12"/>
    </p:embeddedFont>
    <p:embeddedFont>
      <p:font typeface="Arimo Bold" charset="1" panose="020B0704020202020204"/>
      <p:regular r:id="rId13"/>
    </p:embeddedFont>
    <p:embeddedFont>
      <p:font typeface="Arial Bold" charset="1" panose="020B0704020202020204"/>
      <p:regular r:id="rId14"/>
    </p:embeddedFont>
    <p:embeddedFont>
      <p:font typeface="Arial" charset="1" panose="020B0604020202020204"/>
      <p:regular r:id="rId15"/>
    </p:embeddedFont>
    <p:embeddedFont>
      <p:font typeface="Arial Italics" charset="1" panose="020B0604020202090204"/>
      <p:regular r:id="rId19"/>
    </p:embeddedFont>
    <p:embeddedFont>
      <p:font typeface="Arial Bold Italics" charset="1" panose="020B070402020209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notesSlides/notesSlide2.xml" Type="http://schemas.openxmlformats.org/officeDocument/2006/relationships/notesSlide"/><Relationship Id="rId21" Target="fonts/font21.fntdata" Type="http://schemas.openxmlformats.org/officeDocument/2006/relationships/font"/><Relationship Id="rId22" Target="notesSlides/notesSlide3.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https://ieeexplore.ieee.org/document/10449281" TargetMode="External" Type="http://schemas.openxmlformats.org/officeDocument/2006/relationships/hyperlink"/><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https://doi.org/10.1109/SWC57546.2023.10449281" TargetMode="External" Type="http://schemas.openxmlformats.org/officeDocument/2006/relationships/hyperlink"/><Relationship Id="rId5" Target="https://www.sciencedirect.com/science/article/pii/S0360835224003528" TargetMode="External" Type="http://schemas.openxmlformats.org/officeDocument/2006/relationships/hyperlink"/><Relationship Id="rId6" Target="https://doi.org/10.1109/SWC57546.2023.10449281"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547865" y="9644777"/>
            <a:ext cx="3597135" cy="184671"/>
            <a:chOff x="0" y="0"/>
            <a:chExt cx="4796180" cy="246228"/>
          </a:xfrm>
        </p:grpSpPr>
        <p:sp>
          <p:nvSpPr>
            <p:cNvPr name="Freeform 3" id="3"/>
            <p:cNvSpPr/>
            <p:nvPr/>
          </p:nvSpPr>
          <p:spPr>
            <a:xfrm flipH="false" flipV="false" rot="0">
              <a:off x="0" y="0"/>
              <a:ext cx="4796184" cy="246222"/>
            </a:xfrm>
            <a:custGeom>
              <a:avLst/>
              <a:gdLst/>
              <a:ahLst/>
              <a:cxnLst/>
              <a:rect r="r" b="b" t="t" l="l"/>
              <a:pathLst>
                <a:path h="246222" w="4796184">
                  <a:moveTo>
                    <a:pt x="0" y="0"/>
                  </a:moveTo>
                  <a:lnTo>
                    <a:pt x="4796184" y="0"/>
                  </a:lnTo>
                  <a:lnTo>
                    <a:pt x="4796184" y="246222"/>
                  </a:lnTo>
                  <a:lnTo>
                    <a:pt x="0" y="246222"/>
                  </a:lnTo>
                  <a:close/>
                </a:path>
              </a:pathLst>
            </a:custGeom>
            <a:blipFill>
              <a:blip r:embed="rId2">
                <a:alphaModFix amt="0"/>
              </a:blip>
              <a:stretch>
                <a:fillRect l="0" t="-329549" r="0" b="-329551"/>
              </a:stretch>
            </a:blipFill>
          </p:spPr>
        </p:sp>
        <p:sp>
          <p:nvSpPr>
            <p:cNvPr name="TextBox 4" id="4"/>
            <p:cNvSpPr txBox="true"/>
            <p:nvPr/>
          </p:nvSpPr>
          <p:spPr>
            <a:xfrm>
              <a:off x="0" y="-19050"/>
              <a:ext cx="4796180" cy="265278"/>
            </a:xfrm>
            <a:prstGeom prst="rect">
              <a:avLst/>
            </a:prstGeom>
          </p:spPr>
          <p:txBody>
            <a:bodyPr anchor="ctr" rtlCol="false" tIns="0" lIns="0" bIns="0" rIns="0"/>
            <a:lstStyle/>
            <a:p>
              <a:pPr algn="r">
                <a:lnSpc>
                  <a:spcPts val="1439"/>
                </a:lnSpc>
              </a:pPr>
              <a:r>
                <a:rPr lang="en-US" sz="1200">
                  <a:solidFill>
                    <a:srgbClr val="808080"/>
                  </a:solidFill>
                  <a:latin typeface="Arimo"/>
                  <a:ea typeface="Arimo"/>
                  <a:cs typeface="Arimo"/>
                  <a:sym typeface="Arimo"/>
                </a:rPr>
                <a:t>Copyright © 2025 Accenture. All rights reserved.</a:t>
              </a:r>
            </a:p>
          </p:txBody>
        </p:sp>
      </p:grpSp>
      <p:grpSp>
        <p:nvGrpSpPr>
          <p:cNvPr name="Group 5" id="5"/>
          <p:cNvGrpSpPr/>
          <p:nvPr/>
        </p:nvGrpSpPr>
        <p:grpSpPr>
          <a:xfrm rot="0">
            <a:off x="17528943" y="9644777"/>
            <a:ext cx="187557" cy="184671"/>
            <a:chOff x="0" y="0"/>
            <a:chExt cx="250076" cy="246228"/>
          </a:xfrm>
        </p:grpSpPr>
        <p:sp>
          <p:nvSpPr>
            <p:cNvPr name="Freeform 6" id="6"/>
            <p:cNvSpPr/>
            <p:nvPr/>
          </p:nvSpPr>
          <p:spPr>
            <a:xfrm flipH="false" flipV="false" rot="0">
              <a:off x="0" y="0"/>
              <a:ext cx="250070" cy="246222"/>
            </a:xfrm>
            <a:custGeom>
              <a:avLst/>
              <a:gdLst/>
              <a:ahLst/>
              <a:cxnLst/>
              <a:rect r="r" b="b" t="t" l="l"/>
              <a:pathLst>
                <a:path h="246222" w="250070">
                  <a:moveTo>
                    <a:pt x="0" y="0"/>
                  </a:moveTo>
                  <a:lnTo>
                    <a:pt x="250070" y="0"/>
                  </a:lnTo>
                  <a:lnTo>
                    <a:pt x="250070" y="246222"/>
                  </a:lnTo>
                  <a:lnTo>
                    <a:pt x="0" y="246222"/>
                  </a:lnTo>
                  <a:close/>
                </a:path>
              </a:pathLst>
            </a:custGeom>
            <a:blipFill>
              <a:blip r:embed="rId2">
                <a:alphaModFix amt="0"/>
              </a:blip>
              <a:stretch>
                <a:fillRect l="-76331" t="0" r="-76333" b="-2"/>
              </a:stretch>
            </a:blipFill>
          </p:spPr>
        </p:sp>
        <p:sp>
          <p:nvSpPr>
            <p:cNvPr name="TextBox 7" id="7"/>
            <p:cNvSpPr txBox="true"/>
            <p:nvPr/>
          </p:nvSpPr>
          <p:spPr>
            <a:xfrm>
              <a:off x="0" y="-19050"/>
              <a:ext cx="250076" cy="265278"/>
            </a:xfrm>
            <a:prstGeom prst="rect">
              <a:avLst/>
            </a:prstGeom>
          </p:spPr>
          <p:txBody>
            <a:bodyPr anchor="ctr" rtlCol="false" tIns="0" lIns="0" bIns="0" rIns="0"/>
            <a:lstStyle/>
            <a:p>
              <a:pPr algn="r">
                <a:lnSpc>
                  <a:spcPts val="1439"/>
                </a:lnSpc>
              </a:pPr>
              <a:r>
                <a:rPr lang="en-US" sz="1200">
                  <a:solidFill>
                    <a:srgbClr val="808080"/>
                  </a:solidFill>
                  <a:latin typeface="Arimo"/>
                  <a:ea typeface="Arimo"/>
                  <a:cs typeface="Arimo"/>
                  <a:sym typeface="Arimo"/>
                </a:rPr>
                <a:t>‹#›</a:t>
              </a:r>
            </a:p>
          </p:txBody>
        </p:sp>
      </p:grpSp>
      <p:grpSp>
        <p:nvGrpSpPr>
          <p:cNvPr name="Group 8" id="8"/>
          <p:cNvGrpSpPr/>
          <p:nvPr/>
        </p:nvGrpSpPr>
        <p:grpSpPr>
          <a:xfrm rot="0">
            <a:off x="829761" y="9586236"/>
            <a:ext cx="274806" cy="301752"/>
            <a:chOff x="0" y="0"/>
            <a:chExt cx="366408" cy="402336"/>
          </a:xfrm>
        </p:grpSpPr>
        <p:sp>
          <p:nvSpPr>
            <p:cNvPr name="Freeform 9" id="9"/>
            <p:cNvSpPr/>
            <p:nvPr/>
          </p:nvSpPr>
          <p:spPr>
            <a:xfrm flipH="false" flipV="false" rot="0">
              <a:off x="0" y="0"/>
              <a:ext cx="366395" cy="402336"/>
            </a:xfrm>
            <a:custGeom>
              <a:avLst/>
              <a:gdLst/>
              <a:ahLst/>
              <a:cxnLst/>
              <a:rect r="r" b="b" t="t" l="l"/>
              <a:pathLst>
                <a:path h="402336" w="366395">
                  <a:moveTo>
                    <a:pt x="0" y="402336"/>
                  </a:moveTo>
                  <a:lnTo>
                    <a:pt x="366395" y="253619"/>
                  </a:lnTo>
                  <a:lnTo>
                    <a:pt x="366395" y="148717"/>
                  </a:lnTo>
                  <a:lnTo>
                    <a:pt x="0" y="0"/>
                  </a:lnTo>
                  <a:lnTo>
                    <a:pt x="0" y="105029"/>
                  </a:lnTo>
                  <a:lnTo>
                    <a:pt x="236855" y="201168"/>
                  </a:lnTo>
                  <a:lnTo>
                    <a:pt x="0" y="297307"/>
                  </a:lnTo>
                  <a:lnTo>
                    <a:pt x="0" y="402336"/>
                  </a:lnTo>
                  <a:close/>
                </a:path>
              </a:pathLst>
            </a:custGeom>
            <a:solidFill>
              <a:srgbClr val="A100FF"/>
            </a:solidFill>
          </p:spPr>
        </p:sp>
      </p:grpSp>
      <p:grpSp>
        <p:nvGrpSpPr>
          <p:cNvPr name="Group 10" id="10"/>
          <p:cNvGrpSpPr/>
          <p:nvPr/>
        </p:nvGrpSpPr>
        <p:grpSpPr>
          <a:xfrm rot="0">
            <a:off x="1757924" y="836381"/>
            <a:ext cx="1865728" cy="492766"/>
            <a:chOff x="0" y="0"/>
            <a:chExt cx="2487638" cy="657022"/>
          </a:xfrm>
        </p:grpSpPr>
        <p:sp>
          <p:nvSpPr>
            <p:cNvPr name="Freeform 11" id="11" descr="accenture logo"/>
            <p:cNvSpPr/>
            <p:nvPr/>
          </p:nvSpPr>
          <p:spPr>
            <a:xfrm flipH="false" flipV="false" rot="0">
              <a:off x="0" y="0"/>
              <a:ext cx="2487676" cy="656971"/>
            </a:xfrm>
            <a:custGeom>
              <a:avLst/>
              <a:gdLst/>
              <a:ahLst/>
              <a:cxnLst/>
              <a:rect r="r" b="b" t="t" l="l"/>
              <a:pathLst>
                <a:path h="656971" w="2487676">
                  <a:moveTo>
                    <a:pt x="0" y="0"/>
                  </a:moveTo>
                  <a:lnTo>
                    <a:pt x="2487676" y="0"/>
                  </a:lnTo>
                  <a:lnTo>
                    <a:pt x="2487676" y="656971"/>
                  </a:lnTo>
                  <a:lnTo>
                    <a:pt x="0" y="656971"/>
                  </a:lnTo>
                  <a:lnTo>
                    <a:pt x="0" y="0"/>
                  </a:lnTo>
                  <a:close/>
                </a:path>
              </a:pathLst>
            </a:custGeom>
            <a:blipFill>
              <a:blip r:embed="rId3"/>
              <a:stretch>
                <a:fillRect l="0" t="-112" r="1" b="-119"/>
              </a:stretch>
            </a:blipFill>
          </p:spPr>
        </p:sp>
      </p:grpSp>
      <p:grpSp>
        <p:nvGrpSpPr>
          <p:cNvPr name="Group 12" id="12"/>
          <p:cNvGrpSpPr/>
          <p:nvPr/>
        </p:nvGrpSpPr>
        <p:grpSpPr>
          <a:xfrm rot="0">
            <a:off x="29" y="1924"/>
            <a:ext cx="18287971" cy="10285076"/>
            <a:chOff x="0" y="0"/>
            <a:chExt cx="24383962" cy="13713435"/>
          </a:xfrm>
        </p:grpSpPr>
        <p:sp>
          <p:nvSpPr>
            <p:cNvPr name="Freeform 13" id="1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4"/>
              <a:stretch>
                <a:fillRect l="0" t="0" r="-210" b="-3129"/>
              </a:stretch>
            </a:blipFill>
          </p:spPr>
        </p:sp>
      </p:grpSp>
      <p:grpSp>
        <p:nvGrpSpPr>
          <p:cNvPr name="Group 14" id="14"/>
          <p:cNvGrpSpPr/>
          <p:nvPr/>
        </p:nvGrpSpPr>
        <p:grpSpPr>
          <a:xfrm rot="0">
            <a:off x="6481084" y="8117722"/>
            <a:ext cx="6711772" cy="528971"/>
            <a:chOff x="0" y="0"/>
            <a:chExt cx="8949030" cy="705294"/>
          </a:xfrm>
        </p:grpSpPr>
        <p:sp>
          <p:nvSpPr>
            <p:cNvPr name="Freeform 15" id="15"/>
            <p:cNvSpPr/>
            <p:nvPr/>
          </p:nvSpPr>
          <p:spPr>
            <a:xfrm flipH="false" flipV="false" rot="0">
              <a:off x="0" y="0"/>
              <a:ext cx="8949055" cy="705231"/>
            </a:xfrm>
            <a:custGeom>
              <a:avLst/>
              <a:gdLst/>
              <a:ahLst/>
              <a:cxnLst/>
              <a:rect r="r" b="b" t="t" l="l"/>
              <a:pathLst>
                <a:path h="705231" w="8949055">
                  <a:moveTo>
                    <a:pt x="0" y="0"/>
                  </a:moveTo>
                  <a:lnTo>
                    <a:pt x="8949055" y="0"/>
                  </a:lnTo>
                  <a:lnTo>
                    <a:pt x="8949055" y="705231"/>
                  </a:lnTo>
                  <a:lnTo>
                    <a:pt x="0" y="705231"/>
                  </a:lnTo>
                  <a:close/>
                </a:path>
              </a:pathLst>
            </a:custGeom>
            <a:solidFill>
              <a:srgbClr val="A100FF"/>
            </a:solidFill>
          </p:spPr>
        </p:sp>
      </p:grpSp>
      <p:grpSp>
        <p:nvGrpSpPr>
          <p:cNvPr name="Group 16" id="16"/>
          <p:cNvGrpSpPr/>
          <p:nvPr/>
        </p:nvGrpSpPr>
        <p:grpSpPr>
          <a:xfrm rot="0">
            <a:off x="1015336" y="1000592"/>
            <a:ext cx="1876844" cy="495700"/>
            <a:chOff x="0" y="0"/>
            <a:chExt cx="2502459" cy="660933"/>
          </a:xfrm>
        </p:grpSpPr>
        <p:sp>
          <p:nvSpPr>
            <p:cNvPr name="Freeform 17" id="17"/>
            <p:cNvSpPr/>
            <p:nvPr/>
          </p:nvSpPr>
          <p:spPr>
            <a:xfrm flipH="false" flipV="false" rot="0">
              <a:off x="0" y="0"/>
              <a:ext cx="2502408" cy="660908"/>
            </a:xfrm>
            <a:custGeom>
              <a:avLst/>
              <a:gdLst/>
              <a:ahLst/>
              <a:cxnLst/>
              <a:rect r="r" b="b" t="t" l="l"/>
              <a:pathLst>
                <a:path h="660908" w="2502408">
                  <a:moveTo>
                    <a:pt x="0" y="0"/>
                  </a:moveTo>
                  <a:lnTo>
                    <a:pt x="2502408" y="0"/>
                  </a:lnTo>
                  <a:lnTo>
                    <a:pt x="2502408" y="660908"/>
                  </a:lnTo>
                  <a:lnTo>
                    <a:pt x="0" y="660908"/>
                  </a:lnTo>
                  <a:lnTo>
                    <a:pt x="0" y="0"/>
                  </a:lnTo>
                  <a:close/>
                </a:path>
              </a:pathLst>
            </a:custGeom>
            <a:blipFill>
              <a:blip r:embed="rId5"/>
              <a:stretch>
                <a:fillRect l="0" t="0" r="-2" b="-3"/>
              </a:stretch>
            </a:blipFill>
          </p:spPr>
        </p:sp>
      </p:grpSp>
      <p:sp>
        <p:nvSpPr>
          <p:cNvPr name="TextBox 18" id="18"/>
          <p:cNvSpPr txBox="true"/>
          <p:nvPr/>
        </p:nvSpPr>
        <p:spPr>
          <a:xfrm rot="0">
            <a:off x="5663175" y="7400180"/>
            <a:ext cx="8164711" cy="777240"/>
          </a:xfrm>
          <a:prstGeom prst="rect">
            <a:avLst/>
          </a:prstGeom>
        </p:spPr>
        <p:txBody>
          <a:bodyPr anchor="t" rtlCol="false" tIns="0" lIns="0" bIns="0" rIns="0">
            <a:spAutoFit/>
          </a:bodyPr>
          <a:lstStyle/>
          <a:p>
            <a:pPr algn="ctr">
              <a:lnSpc>
                <a:spcPts val="5580"/>
              </a:lnSpc>
            </a:pPr>
            <a:r>
              <a:rPr lang="en-US" b="true" sz="6000" spc="-225">
                <a:solidFill>
                  <a:srgbClr val="FFFFFF"/>
                </a:solidFill>
                <a:latin typeface="Arimo Bold"/>
                <a:ea typeface="Arimo Bold"/>
                <a:cs typeface="Arimo Bold"/>
                <a:sym typeface="Arimo Bold"/>
              </a:rPr>
              <a:t>AI reinvention made real</a:t>
            </a:r>
          </a:p>
        </p:txBody>
      </p:sp>
      <p:sp>
        <p:nvSpPr>
          <p:cNvPr name="TextBox 19" id="19"/>
          <p:cNvSpPr txBox="true"/>
          <p:nvPr/>
        </p:nvSpPr>
        <p:spPr>
          <a:xfrm rot="0">
            <a:off x="6481084" y="8158370"/>
            <a:ext cx="6528892" cy="428625"/>
          </a:xfrm>
          <a:prstGeom prst="rect">
            <a:avLst/>
          </a:prstGeom>
        </p:spPr>
        <p:txBody>
          <a:bodyPr anchor="t" rtlCol="false" tIns="0" lIns="0" bIns="0" rIns="0">
            <a:spAutoFit/>
          </a:bodyPr>
          <a:lstStyle/>
          <a:p>
            <a:pPr algn="ctr">
              <a:lnSpc>
                <a:spcPts val="3240"/>
              </a:lnSpc>
            </a:pPr>
            <a:r>
              <a:rPr lang="en-US" sz="2700">
                <a:solidFill>
                  <a:srgbClr val="FFFFFF"/>
                </a:solidFill>
                <a:latin typeface="Arimo"/>
                <a:ea typeface="Arimo"/>
                <a:cs typeface="Arimo"/>
                <a:sym typeface="Arimo"/>
              </a:rPr>
              <a:t>Accenture Innovation Challenge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01428" y="833304"/>
            <a:ext cx="16566432" cy="1782566"/>
            <a:chOff x="0" y="0"/>
            <a:chExt cx="22088577" cy="2376754"/>
          </a:xfrm>
        </p:grpSpPr>
        <p:sp>
          <p:nvSpPr>
            <p:cNvPr name="Freeform 3" id="3"/>
            <p:cNvSpPr/>
            <p:nvPr/>
          </p:nvSpPr>
          <p:spPr>
            <a:xfrm flipH="false" flipV="false" rot="0">
              <a:off x="0" y="0"/>
              <a:ext cx="22088602" cy="2376540"/>
            </a:xfrm>
            <a:custGeom>
              <a:avLst/>
              <a:gdLst/>
              <a:ahLst/>
              <a:cxnLst/>
              <a:rect r="r" b="b" t="t" l="l"/>
              <a:pathLst>
                <a:path h="2376540" w="22088602">
                  <a:moveTo>
                    <a:pt x="0" y="0"/>
                  </a:moveTo>
                  <a:lnTo>
                    <a:pt x="22088602" y="0"/>
                  </a:lnTo>
                  <a:lnTo>
                    <a:pt x="22088602" y="2376540"/>
                  </a:lnTo>
                  <a:lnTo>
                    <a:pt x="0" y="2376540"/>
                  </a:lnTo>
                  <a:close/>
                </a:path>
              </a:pathLst>
            </a:custGeom>
            <a:solidFill>
              <a:srgbClr val="A100FF"/>
            </a:solidFill>
          </p:spPr>
        </p:sp>
      </p:grpSp>
      <p:sp>
        <p:nvSpPr>
          <p:cNvPr name="TextBox 4" id="4"/>
          <p:cNvSpPr txBox="true"/>
          <p:nvPr/>
        </p:nvSpPr>
        <p:spPr>
          <a:xfrm rot="0">
            <a:off x="692868" y="928554"/>
            <a:ext cx="17145000" cy="726567"/>
          </a:xfrm>
          <a:prstGeom prst="rect">
            <a:avLst/>
          </a:prstGeom>
        </p:spPr>
        <p:txBody>
          <a:bodyPr anchor="t" rtlCol="false" tIns="0" lIns="0" bIns="0" rIns="0">
            <a:spAutoFit/>
          </a:bodyPr>
          <a:lstStyle/>
          <a:p>
            <a:pPr algn="l">
              <a:lnSpc>
                <a:spcPts val="5184"/>
              </a:lnSpc>
            </a:pPr>
            <a:r>
              <a:rPr lang="en-US" sz="5400" b="true">
                <a:solidFill>
                  <a:srgbClr val="000000"/>
                </a:solidFill>
                <a:latin typeface="Arial Bold"/>
                <a:ea typeface="Arial Bold"/>
                <a:cs typeface="Arial Bold"/>
                <a:sym typeface="Arial Bold"/>
              </a:rPr>
              <a:t>Submitted by: excenture</a:t>
            </a:r>
          </a:p>
        </p:txBody>
      </p:sp>
      <p:sp>
        <p:nvSpPr>
          <p:cNvPr name="TextBox 5" id="5"/>
          <p:cNvSpPr txBox="true"/>
          <p:nvPr/>
        </p:nvSpPr>
        <p:spPr>
          <a:xfrm rot="0">
            <a:off x="17350740" y="9805187"/>
            <a:ext cx="395688" cy="237172"/>
          </a:xfrm>
          <a:prstGeom prst="rect">
            <a:avLst/>
          </a:prstGeom>
        </p:spPr>
        <p:txBody>
          <a:bodyPr anchor="t" rtlCol="false" tIns="0" lIns="0" bIns="0" rIns="0">
            <a:spAutoFit/>
          </a:bodyPr>
          <a:lstStyle/>
          <a:p>
            <a:pPr algn="l">
              <a:lnSpc>
                <a:spcPts val="1439"/>
              </a:lnSpc>
            </a:pPr>
            <a:r>
              <a:rPr lang="en-US" sz="1200">
                <a:solidFill>
                  <a:srgbClr val="000000">
                    <a:alpha val="40000"/>
                  </a:srgbClr>
                </a:solidFill>
                <a:latin typeface="Arimo"/>
                <a:ea typeface="Arimo"/>
                <a:cs typeface="Arimo"/>
                <a:sym typeface="Arimo"/>
              </a:rPr>
              <a:t>3</a:t>
            </a:r>
          </a:p>
        </p:txBody>
      </p:sp>
      <p:grpSp>
        <p:nvGrpSpPr>
          <p:cNvPr name="Group 6" id="6"/>
          <p:cNvGrpSpPr/>
          <p:nvPr/>
        </p:nvGrpSpPr>
        <p:grpSpPr>
          <a:xfrm rot="0">
            <a:off x="3518901" y="6548736"/>
            <a:ext cx="4765510" cy="1623714"/>
            <a:chOff x="0" y="0"/>
            <a:chExt cx="6354013" cy="2164952"/>
          </a:xfrm>
        </p:grpSpPr>
        <p:sp>
          <p:nvSpPr>
            <p:cNvPr name="Freeform 7" id="7"/>
            <p:cNvSpPr/>
            <p:nvPr/>
          </p:nvSpPr>
          <p:spPr>
            <a:xfrm flipH="false" flipV="false" rot="0">
              <a:off x="0" y="0"/>
              <a:ext cx="6354014" cy="2164950"/>
            </a:xfrm>
            <a:custGeom>
              <a:avLst/>
              <a:gdLst/>
              <a:ahLst/>
              <a:cxnLst/>
              <a:rect r="r" b="b" t="t" l="l"/>
              <a:pathLst>
                <a:path h="2164950" w="6354014">
                  <a:moveTo>
                    <a:pt x="0" y="0"/>
                  </a:moveTo>
                  <a:lnTo>
                    <a:pt x="6354014" y="0"/>
                  </a:lnTo>
                  <a:lnTo>
                    <a:pt x="6354014" y="2164950"/>
                  </a:lnTo>
                  <a:lnTo>
                    <a:pt x="0" y="2164950"/>
                  </a:lnTo>
                  <a:close/>
                </a:path>
              </a:pathLst>
            </a:custGeom>
            <a:blipFill>
              <a:blip r:embed="rId2">
                <a:alphaModFix amt="0"/>
              </a:blip>
              <a:stretch>
                <a:fillRect l="0" t="-19719" r="0" b="5344"/>
              </a:stretch>
            </a:blipFill>
          </p:spPr>
        </p:sp>
        <p:sp>
          <p:nvSpPr>
            <p:cNvPr name="TextBox 8" id="8"/>
            <p:cNvSpPr txBox="true"/>
            <p:nvPr/>
          </p:nvSpPr>
          <p:spPr>
            <a:xfrm>
              <a:off x="0" y="85725"/>
              <a:ext cx="6354013" cy="2079227"/>
            </a:xfrm>
            <a:prstGeom prst="rect">
              <a:avLst/>
            </a:prstGeom>
          </p:spPr>
          <p:txBody>
            <a:bodyPr anchor="b" rtlCol="false" tIns="0" lIns="0" bIns="0" rIns="0"/>
            <a:lstStyle/>
            <a:p>
              <a:pPr algn="l">
                <a:lnSpc>
                  <a:spcPts val="4855"/>
                </a:lnSpc>
              </a:pPr>
              <a:r>
                <a:rPr lang="en-US" b="true" sz="4995">
                  <a:solidFill>
                    <a:srgbClr val="A100FF"/>
                  </a:solidFill>
                  <a:latin typeface="Arimo Bold"/>
                  <a:ea typeface="Arimo Bold"/>
                  <a:cs typeface="Arimo Bold"/>
                  <a:sym typeface="Arimo Bold"/>
                </a:rPr>
                <a:t>Mahak Garg (Team Leader) </a:t>
              </a:r>
            </a:p>
          </p:txBody>
        </p:sp>
      </p:grpSp>
      <p:grpSp>
        <p:nvGrpSpPr>
          <p:cNvPr name="Group 9" id="9"/>
          <p:cNvGrpSpPr/>
          <p:nvPr/>
        </p:nvGrpSpPr>
        <p:grpSpPr>
          <a:xfrm rot="0">
            <a:off x="11252078" y="3965467"/>
            <a:ext cx="2317490" cy="2356066"/>
            <a:chOff x="0" y="0"/>
            <a:chExt cx="3089986" cy="3141421"/>
          </a:xfrm>
        </p:grpSpPr>
        <p:grpSp>
          <p:nvGrpSpPr>
            <p:cNvPr name="Group 10" id="10"/>
            <p:cNvGrpSpPr/>
            <p:nvPr/>
          </p:nvGrpSpPr>
          <p:grpSpPr>
            <a:xfrm rot="0">
              <a:off x="202667" y="198780"/>
              <a:ext cx="2887320" cy="2942641"/>
              <a:chOff x="0" y="0"/>
              <a:chExt cx="2887320" cy="2942641"/>
            </a:xfrm>
          </p:grpSpPr>
          <p:sp>
            <p:nvSpPr>
              <p:cNvPr name="Freeform 11" id="11"/>
              <p:cNvSpPr/>
              <p:nvPr/>
            </p:nvSpPr>
            <p:spPr>
              <a:xfrm flipH="false" flipV="false" rot="0">
                <a:off x="0" y="0"/>
                <a:ext cx="2887345" cy="2942590"/>
              </a:xfrm>
              <a:custGeom>
                <a:avLst/>
                <a:gdLst/>
                <a:ahLst/>
                <a:cxnLst/>
                <a:rect r="r" b="b" t="t" l="l"/>
                <a:pathLst>
                  <a:path h="2942590" w="2887345">
                    <a:moveTo>
                      <a:pt x="0" y="0"/>
                    </a:moveTo>
                    <a:lnTo>
                      <a:pt x="2887345" y="0"/>
                    </a:lnTo>
                    <a:lnTo>
                      <a:pt x="2887345" y="2942590"/>
                    </a:lnTo>
                    <a:lnTo>
                      <a:pt x="0" y="2942590"/>
                    </a:lnTo>
                    <a:close/>
                  </a:path>
                </a:pathLst>
              </a:custGeom>
              <a:solidFill>
                <a:srgbClr val="A100FF"/>
              </a:solidFill>
            </p:spPr>
          </p:sp>
        </p:grpSp>
        <p:grpSp>
          <p:nvGrpSpPr>
            <p:cNvPr name="Group 12" id="12"/>
            <p:cNvGrpSpPr/>
            <p:nvPr/>
          </p:nvGrpSpPr>
          <p:grpSpPr>
            <a:xfrm rot="0">
              <a:off x="0" y="0"/>
              <a:ext cx="2868435" cy="2942641"/>
              <a:chOff x="0" y="0"/>
              <a:chExt cx="2868435" cy="2942641"/>
            </a:xfrm>
          </p:grpSpPr>
          <p:sp>
            <p:nvSpPr>
              <p:cNvPr name="Freeform 13" id="13"/>
              <p:cNvSpPr/>
              <p:nvPr/>
            </p:nvSpPr>
            <p:spPr>
              <a:xfrm flipH="false" flipV="false" rot="0">
                <a:off x="0" y="0"/>
                <a:ext cx="2868422" cy="2942590"/>
              </a:xfrm>
              <a:custGeom>
                <a:avLst/>
                <a:gdLst/>
                <a:ahLst/>
                <a:cxnLst/>
                <a:rect r="r" b="b" t="t" l="l"/>
                <a:pathLst>
                  <a:path h="2942590" w="2868422">
                    <a:moveTo>
                      <a:pt x="0" y="0"/>
                    </a:moveTo>
                    <a:lnTo>
                      <a:pt x="2868422" y="0"/>
                    </a:lnTo>
                    <a:lnTo>
                      <a:pt x="2868422" y="2942590"/>
                    </a:lnTo>
                    <a:lnTo>
                      <a:pt x="0" y="2942590"/>
                    </a:lnTo>
                    <a:lnTo>
                      <a:pt x="0" y="0"/>
                    </a:lnTo>
                    <a:close/>
                  </a:path>
                </a:pathLst>
              </a:custGeom>
              <a:blipFill>
                <a:blip r:embed="rId2"/>
                <a:stretch>
                  <a:fillRect l="-81623" t="0" r="-81623" b="-1"/>
                </a:stretch>
              </a:blipFill>
            </p:spPr>
          </p:sp>
        </p:grpSp>
      </p:grpSp>
      <p:grpSp>
        <p:nvGrpSpPr>
          <p:cNvPr name="Group 14" id="14"/>
          <p:cNvGrpSpPr/>
          <p:nvPr/>
        </p:nvGrpSpPr>
        <p:grpSpPr>
          <a:xfrm rot="0">
            <a:off x="11252078" y="6569144"/>
            <a:ext cx="6520726" cy="1688216"/>
            <a:chOff x="0" y="0"/>
            <a:chExt cx="8694301" cy="2250955"/>
          </a:xfrm>
        </p:grpSpPr>
        <p:sp>
          <p:nvSpPr>
            <p:cNvPr name="Freeform 15" id="15"/>
            <p:cNvSpPr/>
            <p:nvPr/>
          </p:nvSpPr>
          <p:spPr>
            <a:xfrm flipH="false" flipV="false" rot="0">
              <a:off x="0" y="0"/>
              <a:ext cx="8694300" cy="2250953"/>
            </a:xfrm>
            <a:custGeom>
              <a:avLst/>
              <a:gdLst/>
              <a:ahLst/>
              <a:cxnLst/>
              <a:rect r="r" b="b" t="t" l="l"/>
              <a:pathLst>
                <a:path h="2250953" w="8694300">
                  <a:moveTo>
                    <a:pt x="0" y="0"/>
                  </a:moveTo>
                  <a:lnTo>
                    <a:pt x="8694300" y="0"/>
                  </a:lnTo>
                  <a:lnTo>
                    <a:pt x="8694300" y="2250953"/>
                  </a:lnTo>
                  <a:lnTo>
                    <a:pt x="0" y="2250953"/>
                  </a:lnTo>
                  <a:close/>
                </a:path>
              </a:pathLst>
            </a:custGeom>
            <a:blipFill>
              <a:blip r:embed="rId2">
                <a:alphaModFix amt="0"/>
              </a:blip>
              <a:stretch>
                <a:fillRect l="-7409" t="0" r="59527" b="27927"/>
              </a:stretch>
            </a:blipFill>
          </p:spPr>
        </p:sp>
        <p:sp>
          <p:nvSpPr>
            <p:cNvPr name="TextBox 16" id="16"/>
            <p:cNvSpPr txBox="true"/>
            <p:nvPr/>
          </p:nvSpPr>
          <p:spPr>
            <a:xfrm>
              <a:off x="0" y="38100"/>
              <a:ext cx="8694301" cy="2212855"/>
            </a:xfrm>
            <a:prstGeom prst="rect">
              <a:avLst/>
            </a:prstGeom>
          </p:spPr>
          <p:txBody>
            <a:bodyPr anchor="b" rtlCol="false" tIns="0" lIns="0" bIns="0" rIns="0"/>
            <a:lstStyle/>
            <a:p>
              <a:pPr algn="l">
                <a:lnSpc>
                  <a:spcPts val="5389"/>
                </a:lnSpc>
              </a:pPr>
              <a:r>
                <a:rPr lang="en-US" sz="4989" b="true">
                  <a:solidFill>
                    <a:srgbClr val="A100FF"/>
                  </a:solidFill>
                  <a:latin typeface="Arimo Bold"/>
                  <a:ea typeface="Arimo Bold"/>
                  <a:cs typeface="Arimo Bold"/>
                  <a:sym typeface="Arimo Bold"/>
                </a:rPr>
                <a:t>Priyanshu </a:t>
              </a:r>
            </a:p>
            <a:p>
              <a:pPr algn="l">
                <a:lnSpc>
                  <a:spcPts val="5389"/>
                </a:lnSpc>
              </a:pPr>
              <a:r>
                <a:rPr lang="en-US" b="true" sz="4989">
                  <a:solidFill>
                    <a:srgbClr val="A100FF"/>
                  </a:solidFill>
                  <a:latin typeface="Arimo Bold"/>
                  <a:ea typeface="Arimo Bold"/>
                  <a:cs typeface="Arimo Bold"/>
                  <a:sym typeface="Arimo Bold"/>
                </a:rPr>
                <a:t>Mishra</a:t>
              </a:r>
            </a:p>
          </p:txBody>
        </p:sp>
      </p:grpSp>
      <p:sp>
        <p:nvSpPr>
          <p:cNvPr name="TextBox 17" id="17"/>
          <p:cNvSpPr txBox="true"/>
          <p:nvPr/>
        </p:nvSpPr>
        <p:spPr>
          <a:xfrm rot="0">
            <a:off x="3518901" y="8153400"/>
            <a:ext cx="3961143" cy="1247775"/>
          </a:xfrm>
          <a:prstGeom prst="rect">
            <a:avLst/>
          </a:prstGeom>
        </p:spPr>
        <p:txBody>
          <a:bodyPr anchor="t" rtlCol="false" tIns="0" lIns="0" bIns="0" rIns="0">
            <a:spAutoFit/>
          </a:bodyPr>
          <a:lstStyle/>
          <a:p>
            <a:pPr algn="l">
              <a:lnSpc>
                <a:spcPts val="3239"/>
              </a:lnSpc>
            </a:pPr>
            <a:r>
              <a:rPr lang="en-US" sz="2699">
                <a:solidFill>
                  <a:srgbClr val="000000"/>
                </a:solidFill>
                <a:latin typeface="Arimo"/>
                <a:ea typeface="Arimo"/>
                <a:cs typeface="Arimo"/>
                <a:sym typeface="Arimo"/>
              </a:rPr>
              <a:t>Stream : Mechanical Engineering</a:t>
            </a:r>
          </a:p>
          <a:p>
            <a:pPr algn="l">
              <a:lnSpc>
                <a:spcPts val="3239"/>
              </a:lnSpc>
            </a:pPr>
            <a:r>
              <a:rPr lang="en-US" sz="2699">
                <a:solidFill>
                  <a:srgbClr val="000000"/>
                </a:solidFill>
                <a:latin typeface="Arimo"/>
                <a:ea typeface="Arimo"/>
                <a:cs typeface="Arimo"/>
                <a:sym typeface="Arimo"/>
              </a:rPr>
              <a:t>Year of graduation: 2027</a:t>
            </a:r>
          </a:p>
        </p:txBody>
      </p:sp>
      <p:sp>
        <p:nvSpPr>
          <p:cNvPr name="TextBox 18" id="18"/>
          <p:cNvSpPr txBox="true"/>
          <p:nvPr/>
        </p:nvSpPr>
        <p:spPr>
          <a:xfrm rot="0">
            <a:off x="11252078" y="8228785"/>
            <a:ext cx="4447040" cy="1280151"/>
          </a:xfrm>
          <a:prstGeom prst="rect">
            <a:avLst/>
          </a:prstGeom>
        </p:spPr>
        <p:txBody>
          <a:bodyPr anchor="t" rtlCol="false" tIns="0" lIns="0" bIns="0" rIns="0">
            <a:spAutoFit/>
          </a:bodyPr>
          <a:lstStyle/>
          <a:p>
            <a:pPr algn="l">
              <a:lnSpc>
                <a:spcPts val="3300"/>
              </a:lnSpc>
            </a:pPr>
            <a:r>
              <a:rPr lang="en-US" sz="2750">
                <a:solidFill>
                  <a:srgbClr val="000000"/>
                </a:solidFill>
                <a:latin typeface="Arimo"/>
                <a:ea typeface="Arimo"/>
                <a:cs typeface="Arimo"/>
                <a:sym typeface="Arimo"/>
              </a:rPr>
              <a:t>Stream : Civil Engineering </a:t>
            </a:r>
          </a:p>
          <a:p>
            <a:pPr algn="l">
              <a:lnSpc>
                <a:spcPts val="3300"/>
              </a:lnSpc>
            </a:pPr>
            <a:r>
              <a:rPr lang="en-US" sz="2750">
                <a:solidFill>
                  <a:srgbClr val="000000"/>
                </a:solidFill>
                <a:latin typeface="Arimo"/>
                <a:ea typeface="Arimo"/>
                <a:cs typeface="Arimo"/>
                <a:sym typeface="Arimo"/>
              </a:rPr>
              <a:t>Year of graduation: 2027</a:t>
            </a:r>
          </a:p>
          <a:p>
            <a:pPr algn="l">
              <a:lnSpc>
                <a:spcPts val="3300"/>
              </a:lnSpc>
            </a:pPr>
          </a:p>
        </p:txBody>
      </p:sp>
      <p:sp>
        <p:nvSpPr>
          <p:cNvPr name="TextBox 19" id="19"/>
          <p:cNvSpPr txBox="true"/>
          <p:nvPr/>
        </p:nvSpPr>
        <p:spPr>
          <a:xfrm rot="0">
            <a:off x="692868" y="1750371"/>
            <a:ext cx="17145000" cy="726567"/>
          </a:xfrm>
          <a:prstGeom prst="rect">
            <a:avLst/>
          </a:prstGeom>
        </p:spPr>
        <p:txBody>
          <a:bodyPr anchor="t" rtlCol="false" tIns="0" lIns="0" bIns="0" rIns="0">
            <a:spAutoFit/>
          </a:bodyPr>
          <a:lstStyle/>
          <a:p>
            <a:pPr algn="l">
              <a:lnSpc>
                <a:spcPts val="5184"/>
              </a:lnSpc>
            </a:pPr>
            <a:r>
              <a:rPr lang="en-US" sz="5400">
                <a:solidFill>
                  <a:srgbClr val="000000"/>
                </a:solidFill>
                <a:latin typeface="Arial"/>
                <a:ea typeface="Arial"/>
                <a:cs typeface="Arial"/>
                <a:sym typeface="Arial"/>
              </a:rPr>
              <a:t>Indian Institute of Technology , Kanpur</a:t>
            </a:r>
          </a:p>
        </p:txBody>
      </p:sp>
      <p:grpSp>
        <p:nvGrpSpPr>
          <p:cNvPr name="Group 20" id="20"/>
          <p:cNvGrpSpPr/>
          <p:nvPr/>
        </p:nvGrpSpPr>
        <p:grpSpPr>
          <a:xfrm rot="0">
            <a:off x="3518901" y="3890924"/>
            <a:ext cx="2317490" cy="2356066"/>
            <a:chOff x="0" y="0"/>
            <a:chExt cx="3089986" cy="3141421"/>
          </a:xfrm>
        </p:grpSpPr>
        <p:grpSp>
          <p:nvGrpSpPr>
            <p:cNvPr name="Group 21" id="21"/>
            <p:cNvGrpSpPr/>
            <p:nvPr/>
          </p:nvGrpSpPr>
          <p:grpSpPr>
            <a:xfrm rot="0">
              <a:off x="202667" y="198780"/>
              <a:ext cx="2887320" cy="2942641"/>
              <a:chOff x="0" y="0"/>
              <a:chExt cx="2887320" cy="2942641"/>
            </a:xfrm>
          </p:grpSpPr>
          <p:sp>
            <p:nvSpPr>
              <p:cNvPr name="Freeform 22" id="22"/>
              <p:cNvSpPr/>
              <p:nvPr/>
            </p:nvSpPr>
            <p:spPr>
              <a:xfrm flipH="false" flipV="false" rot="0">
                <a:off x="0" y="0"/>
                <a:ext cx="2887345" cy="2942590"/>
              </a:xfrm>
              <a:custGeom>
                <a:avLst/>
                <a:gdLst/>
                <a:ahLst/>
                <a:cxnLst/>
                <a:rect r="r" b="b" t="t" l="l"/>
                <a:pathLst>
                  <a:path h="2942590" w="2887345">
                    <a:moveTo>
                      <a:pt x="0" y="0"/>
                    </a:moveTo>
                    <a:lnTo>
                      <a:pt x="2887345" y="0"/>
                    </a:lnTo>
                    <a:lnTo>
                      <a:pt x="2887345" y="2942590"/>
                    </a:lnTo>
                    <a:lnTo>
                      <a:pt x="0" y="2942590"/>
                    </a:lnTo>
                    <a:close/>
                  </a:path>
                </a:pathLst>
              </a:custGeom>
              <a:solidFill>
                <a:srgbClr val="A100FF"/>
              </a:solidFill>
            </p:spPr>
          </p:sp>
        </p:grpSp>
        <p:grpSp>
          <p:nvGrpSpPr>
            <p:cNvPr name="Group 23" id="23"/>
            <p:cNvGrpSpPr/>
            <p:nvPr/>
          </p:nvGrpSpPr>
          <p:grpSpPr>
            <a:xfrm rot="0">
              <a:off x="0" y="0"/>
              <a:ext cx="2868435" cy="2942641"/>
              <a:chOff x="0" y="0"/>
              <a:chExt cx="2868435" cy="2942641"/>
            </a:xfrm>
          </p:grpSpPr>
          <p:sp>
            <p:nvSpPr>
              <p:cNvPr name="Freeform 24" id="24"/>
              <p:cNvSpPr/>
              <p:nvPr/>
            </p:nvSpPr>
            <p:spPr>
              <a:xfrm flipH="false" flipV="false" rot="0">
                <a:off x="0" y="0"/>
                <a:ext cx="2868422" cy="2942590"/>
              </a:xfrm>
              <a:custGeom>
                <a:avLst/>
                <a:gdLst/>
                <a:ahLst/>
                <a:cxnLst/>
                <a:rect r="r" b="b" t="t" l="l"/>
                <a:pathLst>
                  <a:path h="2942590" w="2868422">
                    <a:moveTo>
                      <a:pt x="0" y="0"/>
                    </a:moveTo>
                    <a:lnTo>
                      <a:pt x="2868422" y="0"/>
                    </a:lnTo>
                    <a:lnTo>
                      <a:pt x="2868422" y="2942590"/>
                    </a:lnTo>
                    <a:lnTo>
                      <a:pt x="0" y="2942590"/>
                    </a:lnTo>
                    <a:lnTo>
                      <a:pt x="0" y="0"/>
                    </a:lnTo>
                    <a:close/>
                  </a:path>
                </a:pathLst>
              </a:custGeom>
              <a:blipFill>
                <a:blip r:embed="rId2"/>
                <a:stretch>
                  <a:fillRect l="-81623" t="0" r="-81623" b="-1"/>
                </a:stretch>
              </a:blipFill>
            </p:spPr>
          </p:sp>
        </p:gr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18538" y="438912"/>
            <a:ext cx="3154680" cy="493776"/>
            <a:chOff x="0" y="0"/>
            <a:chExt cx="4206240" cy="658368"/>
          </a:xfrm>
        </p:grpSpPr>
        <p:sp>
          <p:nvSpPr>
            <p:cNvPr name="Freeform 3" id="3"/>
            <p:cNvSpPr/>
            <p:nvPr/>
          </p:nvSpPr>
          <p:spPr>
            <a:xfrm flipH="false" flipV="false" rot="0">
              <a:off x="0" y="0"/>
              <a:ext cx="4206240" cy="658368"/>
            </a:xfrm>
            <a:custGeom>
              <a:avLst/>
              <a:gdLst/>
              <a:ahLst/>
              <a:cxnLst/>
              <a:rect r="r" b="b" t="t" l="l"/>
              <a:pathLst>
                <a:path h="658368" w="4206240">
                  <a:moveTo>
                    <a:pt x="0" y="329184"/>
                  </a:moveTo>
                  <a:cubicBezTo>
                    <a:pt x="0" y="147320"/>
                    <a:pt x="147320" y="0"/>
                    <a:pt x="329184" y="0"/>
                  </a:cubicBezTo>
                  <a:lnTo>
                    <a:pt x="3877056" y="0"/>
                  </a:lnTo>
                  <a:cubicBezTo>
                    <a:pt x="4058920" y="0"/>
                    <a:pt x="4206240" y="147320"/>
                    <a:pt x="4206240" y="329184"/>
                  </a:cubicBezTo>
                  <a:cubicBezTo>
                    <a:pt x="4206240" y="511048"/>
                    <a:pt x="4058920" y="658368"/>
                    <a:pt x="3877056" y="658368"/>
                  </a:cubicBezTo>
                  <a:lnTo>
                    <a:pt x="329184" y="658368"/>
                  </a:lnTo>
                  <a:cubicBezTo>
                    <a:pt x="147320" y="658368"/>
                    <a:pt x="0" y="511048"/>
                    <a:pt x="0" y="329184"/>
                  </a:cubicBezTo>
                  <a:close/>
                </a:path>
              </a:pathLst>
            </a:custGeom>
            <a:solidFill>
              <a:srgbClr val="F2ECFB"/>
            </a:solidFill>
          </p:spPr>
        </p:sp>
      </p:grpSp>
      <p:grpSp>
        <p:nvGrpSpPr>
          <p:cNvPr name="Group 4" id="4"/>
          <p:cNvGrpSpPr/>
          <p:nvPr/>
        </p:nvGrpSpPr>
        <p:grpSpPr>
          <a:xfrm rot="0">
            <a:off x="822960" y="438912"/>
            <a:ext cx="5545836" cy="493776"/>
            <a:chOff x="0" y="0"/>
            <a:chExt cx="7394448" cy="658368"/>
          </a:xfrm>
        </p:grpSpPr>
        <p:sp>
          <p:nvSpPr>
            <p:cNvPr name="Freeform 5" id="5"/>
            <p:cNvSpPr/>
            <p:nvPr/>
          </p:nvSpPr>
          <p:spPr>
            <a:xfrm flipH="false" flipV="false" rot="0">
              <a:off x="0" y="0"/>
              <a:ext cx="7394448" cy="658368"/>
            </a:xfrm>
            <a:custGeom>
              <a:avLst/>
              <a:gdLst/>
              <a:ahLst/>
              <a:cxnLst/>
              <a:rect r="r" b="b" t="t" l="l"/>
              <a:pathLst>
                <a:path h="658368" w="7394448">
                  <a:moveTo>
                    <a:pt x="0" y="0"/>
                  </a:moveTo>
                  <a:lnTo>
                    <a:pt x="7394448" y="0"/>
                  </a:lnTo>
                  <a:lnTo>
                    <a:pt x="7394448" y="658368"/>
                  </a:lnTo>
                  <a:lnTo>
                    <a:pt x="0" y="658368"/>
                  </a:lnTo>
                  <a:close/>
                </a:path>
              </a:pathLst>
            </a:custGeom>
            <a:blipFill>
              <a:blip r:embed="rId3">
                <a:alphaModFix amt="0"/>
              </a:blip>
              <a:stretch>
                <a:fillRect l="0" t="-168845" r="0" b="-168845"/>
              </a:stretch>
            </a:blipFill>
          </p:spPr>
        </p:sp>
        <p:sp>
          <p:nvSpPr>
            <p:cNvPr name="TextBox 6" id="6"/>
            <p:cNvSpPr txBox="true"/>
            <p:nvPr/>
          </p:nvSpPr>
          <p:spPr>
            <a:xfrm>
              <a:off x="0" y="-28575"/>
              <a:ext cx="7394448" cy="686943"/>
            </a:xfrm>
            <a:prstGeom prst="rect">
              <a:avLst/>
            </a:prstGeom>
          </p:spPr>
          <p:txBody>
            <a:bodyPr anchor="ctr" rtlCol="false" tIns="0" lIns="0" bIns="0" rIns="0"/>
            <a:lstStyle/>
            <a:p>
              <a:pPr algn="ctr">
                <a:lnSpc>
                  <a:spcPts val="2250"/>
                </a:lnSpc>
              </a:pPr>
              <a:r>
                <a:rPr lang="en-US" sz="1875" b="true">
                  <a:solidFill>
                    <a:srgbClr val="4A148C"/>
                  </a:solidFill>
                  <a:latin typeface="Arial Bold"/>
                  <a:ea typeface="Arial Bold"/>
                  <a:cs typeface="Arial Bold"/>
                  <a:sym typeface="Arial Bold"/>
                </a:rPr>
                <a:t>Problem Analysis</a:t>
              </a:r>
            </a:p>
          </p:txBody>
        </p:sp>
      </p:grpSp>
      <p:grpSp>
        <p:nvGrpSpPr>
          <p:cNvPr name="Group 7" id="7"/>
          <p:cNvGrpSpPr/>
          <p:nvPr/>
        </p:nvGrpSpPr>
        <p:grpSpPr>
          <a:xfrm rot="0">
            <a:off x="6368796" y="438912"/>
            <a:ext cx="5545836" cy="493776"/>
            <a:chOff x="0" y="0"/>
            <a:chExt cx="7394448" cy="658368"/>
          </a:xfrm>
        </p:grpSpPr>
        <p:sp>
          <p:nvSpPr>
            <p:cNvPr name="Freeform 8" id="8"/>
            <p:cNvSpPr/>
            <p:nvPr/>
          </p:nvSpPr>
          <p:spPr>
            <a:xfrm flipH="false" flipV="false" rot="0">
              <a:off x="0" y="0"/>
              <a:ext cx="7394448" cy="658368"/>
            </a:xfrm>
            <a:custGeom>
              <a:avLst/>
              <a:gdLst/>
              <a:ahLst/>
              <a:cxnLst/>
              <a:rect r="r" b="b" t="t" l="l"/>
              <a:pathLst>
                <a:path h="658368" w="7394448">
                  <a:moveTo>
                    <a:pt x="0" y="0"/>
                  </a:moveTo>
                  <a:lnTo>
                    <a:pt x="7394448" y="0"/>
                  </a:lnTo>
                  <a:lnTo>
                    <a:pt x="7394448" y="658368"/>
                  </a:lnTo>
                  <a:lnTo>
                    <a:pt x="0" y="658368"/>
                  </a:lnTo>
                  <a:close/>
                </a:path>
              </a:pathLst>
            </a:custGeom>
            <a:blipFill>
              <a:blip r:embed="rId3">
                <a:alphaModFix amt="0"/>
              </a:blip>
              <a:stretch>
                <a:fillRect l="0" t="-168845" r="0" b="-168845"/>
              </a:stretch>
            </a:blipFill>
          </p:spPr>
        </p:sp>
        <p:sp>
          <p:nvSpPr>
            <p:cNvPr name="TextBox 9" id="9"/>
            <p:cNvSpPr txBox="true"/>
            <p:nvPr/>
          </p:nvSpPr>
          <p:spPr>
            <a:xfrm>
              <a:off x="0" y="-28575"/>
              <a:ext cx="7394448" cy="686943"/>
            </a:xfrm>
            <a:prstGeom prst="rect">
              <a:avLst/>
            </a:prstGeom>
          </p:spPr>
          <p:txBody>
            <a:bodyPr anchor="ctr" rtlCol="false" tIns="0" lIns="0" bIns="0" rIns="0"/>
            <a:lstStyle/>
            <a:p>
              <a:pPr algn="ctr">
                <a:lnSpc>
                  <a:spcPts val="2250"/>
                </a:lnSpc>
              </a:pPr>
              <a:r>
                <a:rPr lang="en-US" sz="1875">
                  <a:solidFill>
                    <a:srgbClr val="A8A8B2"/>
                  </a:solidFill>
                  <a:latin typeface="Arial"/>
                  <a:ea typeface="Arial"/>
                  <a:cs typeface="Arial"/>
                  <a:sym typeface="Arial"/>
                </a:rPr>
                <a:t>Proposed Solution</a:t>
              </a:r>
            </a:p>
          </p:txBody>
        </p:sp>
      </p:grpSp>
      <p:grpSp>
        <p:nvGrpSpPr>
          <p:cNvPr name="Group 10" id="10"/>
          <p:cNvGrpSpPr/>
          <p:nvPr/>
        </p:nvGrpSpPr>
        <p:grpSpPr>
          <a:xfrm rot="0">
            <a:off x="11914632" y="438912"/>
            <a:ext cx="5545836" cy="493776"/>
            <a:chOff x="0" y="0"/>
            <a:chExt cx="7394448" cy="658368"/>
          </a:xfrm>
        </p:grpSpPr>
        <p:sp>
          <p:nvSpPr>
            <p:cNvPr name="Freeform 11" id="11"/>
            <p:cNvSpPr/>
            <p:nvPr/>
          </p:nvSpPr>
          <p:spPr>
            <a:xfrm flipH="false" flipV="false" rot="0">
              <a:off x="0" y="0"/>
              <a:ext cx="7394448" cy="658368"/>
            </a:xfrm>
            <a:custGeom>
              <a:avLst/>
              <a:gdLst/>
              <a:ahLst/>
              <a:cxnLst/>
              <a:rect r="r" b="b" t="t" l="l"/>
              <a:pathLst>
                <a:path h="658368" w="7394448">
                  <a:moveTo>
                    <a:pt x="0" y="0"/>
                  </a:moveTo>
                  <a:lnTo>
                    <a:pt x="7394448" y="0"/>
                  </a:lnTo>
                  <a:lnTo>
                    <a:pt x="7394448" y="658368"/>
                  </a:lnTo>
                  <a:lnTo>
                    <a:pt x="0" y="658368"/>
                  </a:lnTo>
                  <a:close/>
                </a:path>
              </a:pathLst>
            </a:custGeom>
            <a:blipFill>
              <a:blip r:embed="rId3">
                <a:alphaModFix amt="0"/>
              </a:blip>
              <a:stretch>
                <a:fillRect l="0" t="-168845" r="0" b="-168845"/>
              </a:stretch>
            </a:blipFill>
          </p:spPr>
        </p:sp>
        <p:sp>
          <p:nvSpPr>
            <p:cNvPr name="TextBox 12" id="12"/>
            <p:cNvSpPr txBox="true"/>
            <p:nvPr/>
          </p:nvSpPr>
          <p:spPr>
            <a:xfrm>
              <a:off x="0" y="-28575"/>
              <a:ext cx="7394448" cy="686943"/>
            </a:xfrm>
            <a:prstGeom prst="rect">
              <a:avLst/>
            </a:prstGeom>
          </p:spPr>
          <p:txBody>
            <a:bodyPr anchor="ctr" rtlCol="false" tIns="0" lIns="0" bIns="0" rIns="0"/>
            <a:lstStyle/>
            <a:p>
              <a:pPr algn="ctr">
                <a:lnSpc>
                  <a:spcPts val="2250"/>
                </a:lnSpc>
              </a:pPr>
              <a:r>
                <a:rPr lang="en-US" sz="1875">
                  <a:solidFill>
                    <a:srgbClr val="A8A8B2"/>
                  </a:solidFill>
                  <a:latin typeface="Arial"/>
                  <a:ea typeface="Arial"/>
                  <a:cs typeface="Arial"/>
                  <a:sym typeface="Arial"/>
                </a:rPr>
                <a:t>Video</a:t>
              </a:r>
            </a:p>
          </p:txBody>
        </p:sp>
      </p:grpSp>
      <p:grpSp>
        <p:nvGrpSpPr>
          <p:cNvPr name="Group 13" id="13"/>
          <p:cNvGrpSpPr/>
          <p:nvPr/>
        </p:nvGrpSpPr>
        <p:grpSpPr>
          <a:xfrm rot="0">
            <a:off x="822960" y="1179576"/>
            <a:ext cx="16637508" cy="850392"/>
            <a:chOff x="0" y="0"/>
            <a:chExt cx="22183344" cy="1133856"/>
          </a:xfrm>
        </p:grpSpPr>
        <p:sp>
          <p:nvSpPr>
            <p:cNvPr name="Freeform 14" id="14"/>
            <p:cNvSpPr/>
            <p:nvPr/>
          </p:nvSpPr>
          <p:spPr>
            <a:xfrm flipH="false" flipV="false" rot="0">
              <a:off x="0" y="0"/>
              <a:ext cx="22183344" cy="1133856"/>
            </a:xfrm>
            <a:custGeom>
              <a:avLst/>
              <a:gdLst/>
              <a:ahLst/>
              <a:cxnLst/>
              <a:rect r="r" b="b" t="t" l="l"/>
              <a:pathLst>
                <a:path h="1133856" w="22183344">
                  <a:moveTo>
                    <a:pt x="0" y="109728"/>
                  </a:moveTo>
                  <a:cubicBezTo>
                    <a:pt x="0" y="49149"/>
                    <a:pt x="49149" y="0"/>
                    <a:pt x="109728" y="0"/>
                  </a:cubicBezTo>
                  <a:lnTo>
                    <a:pt x="22073615" y="0"/>
                  </a:lnTo>
                  <a:cubicBezTo>
                    <a:pt x="22134195" y="0"/>
                    <a:pt x="22183344" y="49149"/>
                    <a:pt x="22183344" y="109728"/>
                  </a:cubicBezTo>
                  <a:lnTo>
                    <a:pt x="22183344" y="1024128"/>
                  </a:lnTo>
                  <a:cubicBezTo>
                    <a:pt x="22183344" y="1084707"/>
                    <a:pt x="22134195" y="1133856"/>
                    <a:pt x="22073615" y="1133856"/>
                  </a:cubicBezTo>
                  <a:lnTo>
                    <a:pt x="109728" y="1133856"/>
                  </a:lnTo>
                  <a:cubicBezTo>
                    <a:pt x="49149" y="1133856"/>
                    <a:pt x="0" y="1084707"/>
                    <a:pt x="0" y="1024128"/>
                  </a:cubicBezTo>
                  <a:close/>
                </a:path>
              </a:pathLst>
            </a:custGeom>
            <a:solidFill>
              <a:srgbClr val="F2ECFB"/>
            </a:solidFill>
          </p:spPr>
        </p:sp>
      </p:grpSp>
      <p:grpSp>
        <p:nvGrpSpPr>
          <p:cNvPr name="Group 15" id="15"/>
          <p:cNvGrpSpPr/>
          <p:nvPr/>
        </p:nvGrpSpPr>
        <p:grpSpPr>
          <a:xfrm rot="0">
            <a:off x="1234440" y="1179576"/>
            <a:ext cx="15814548" cy="850392"/>
            <a:chOff x="0" y="0"/>
            <a:chExt cx="21086064" cy="1133856"/>
          </a:xfrm>
        </p:grpSpPr>
        <p:sp>
          <p:nvSpPr>
            <p:cNvPr name="Freeform 16" id="16"/>
            <p:cNvSpPr/>
            <p:nvPr/>
          </p:nvSpPr>
          <p:spPr>
            <a:xfrm flipH="false" flipV="false" rot="0">
              <a:off x="0" y="0"/>
              <a:ext cx="21086065" cy="1133856"/>
            </a:xfrm>
            <a:custGeom>
              <a:avLst/>
              <a:gdLst/>
              <a:ahLst/>
              <a:cxnLst/>
              <a:rect r="r" b="b" t="t" l="l"/>
              <a:pathLst>
                <a:path h="1133856" w="21086065">
                  <a:moveTo>
                    <a:pt x="0" y="0"/>
                  </a:moveTo>
                  <a:lnTo>
                    <a:pt x="21086065" y="0"/>
                  </a:lnTo>
                  <a:lnTo>
                    <a:pt x="21086065" y="1133856"/>
                  </a:lnTo>
                  <a:lnTo>
                    <a:pt x="0" y="1133856"/>
                  </a:lnTo>
                  <a:close/>
                </a:path>
              </a:pathLst>
            </a:custGeom>
            <a:blipFill>
              <a:blip r:embed="rId3">
                <a:alphaModFix amt="0"/>
              </a:blip>
              <a:stretch>
                <a:fillRect l="0" t="-312358" r="0" b="-312358"/>
              </a:stretch>
            </a:blipFill>
          </p:spPr>
        </p:sp>
        <p:sp>
          <p:nvSpPr>
            <p:cNvPr name="TextBox 17" id="17"/>
            <p:cNvSpPr txBox="true"/>
            <p:nvPr/>
          </p:nvSpPr>
          <p:spPr>
            <a:xfrm>
              <a:off x="0" y="-38100"/>
              <a:ext cx="21086064" cy="1171956"/>
            </a:xfrm>
            <a:prstGeom prst="rect">
              <a:avLst/>
            </a:prstGeom>
          </p:spPr>
          <p:txBody>
            <a:bodyPr anchor="ctr" rtlCol="false" tIns="0" lIns="0" bIns="0" rIns="0"/>
            <a:lstStyle/>
            <a:p>
              <a:pPr algn="l">
                <a:lnSpc>
                  <a:spcPts val="2794"/>
                </a:lnSpc>
              </a:pPr>
              <a:r>
                <a:rPr lang="en-US" sz="2025" b="true">
                  <a:solidFill>
                    <a:srgbClr val="4A148C"/>
                  </a:solidFill>
                  <a:latin typeface="Arial Bold"/>
                  <a:ea typeface="Arial Bold"/>
                  <a:cs typeface="Arial Bold"/>
                  <a:sym typeface="Arial Bold"/>
                </a:rPr>
                <a:t>Local Delay, Global Cost:  </a:t>
              </a:r>
              <a:r>
                <a:rPr lang="en-US" sz="2025">
                  <a:solidFill>
                    <a:srgbClr val="1E1E24"/>
                  </a:solidFill>
                  <a:latin typeface="Arial"/>
                  <a:ea typeface="Arial"/>
                  <a:cs typeface="Arial"/>
                  <a:sym typeface="Arial"/>
                </a:rPr>
                <a:t>a slowdown at one station rarely stays local — it cascades into downstream cost, idle time, and undetected defects.</a:t>
              </a:r>
            </a:p>
          </p:txBody>
        </p:sp>
      </p:grpSp>
      <p:grpSp>
        <p:nvGrpSpPr>
          <p:cNvPr name="Group 18" id="18"/>
          <p:cNvGrpSpPr/>
          <p:nvPr/>
        </p:nvGrpSpPr>
        <p:grpSpPr>
          <a:xfrm rot="0">
            <a:off x="822960" y="2304288"/>
            <a:ext cx="8229600" cy="411480"/>
            <a:chOff x="0" y="0"/>
            <a:chExt cx="10972800" cy="548640"/>
          </a:xfrm>
        </p:grpSpPr>
        <p:sp>
          <p:nvSpPr>
            <p:cNvPr name="Freeform 19" id="1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20" id="20"/>
            <p:cNvSpPr txBox="true"/>
            <p:nvPr/>
          </p:nvSpPr>
          <p:spPr>
            <a:xfrm>
              <a:off x="0" y="-19050"/>
              <a:ext cx="10972800" cy="567690"/>
            </a:xfrm>
            <a:prstGeom prst="rect">
              <a:avLst/>
            </a:prstGeom>
          </p:spPr>
          <p:txBody>
            <a:bodyPr anchor="ctr" rtlCol="false" tIns="0" lIns="0" bIns="0" rIns="0"/>
            <a:lstStyle/>
            <a:p>
              <a:pPr algn="l">
                <a:lnSpc>
                  <a:spcPts val="1980"/>
                </a:lnSpc>
              </a:pPr>
              <a:r>
                <a:rPr lang="en-US" b="true" sz="1650" spc="180">
                  <a:solidFill>
                    <a:srgbClr val="4A148C"/>
                  </a:solidFill>
                  <a:latin typeface="Arial Bold"/>
                  <a:ea typeface="Arial Bold"/>
                  <a:cs typeface="Arial Bold"/>
                  <a:sym typeface="Arial Bold"/>
                </a:rPr>
                <a:t>THE RIPPLE EFFECT, STATION BY STATION</a:t>
              </a:r>
            </a:p>
          </p:txBody>
        </p:sp>
      </p:grpSp>
      <p:grpSp>
        <p:nvGrpSpPr>
          <p:cNvPr name="Group 21" id="21"/>
          <p:cNvGrpSpPr/>
          <p:nvPr/>
        </p:nvGrpSpPr>
        <p:grpSpPr>
          <a:xfrm rot="0">
            <a:off x="960120" y="3223260"/>
            <a:ext cx="795528" cy="164592"/>
            <a:chOff x="0" y="0"/>
            <a:chExt cx="1060704" cy="219456"/>
          </a:xfrm>
        </p:grpSpPr>
        <p:sp>
          <p:nvSpPr>
            <p:cNvPr name="Freeform 22" id="22"/>
            <p:cNvSpPr/>
            <p:nvPr/>
          </p:nvSpPr>
          <p:spPr>
            <a:xfrm flipH="false" flipV="false" rot="0">
              <a:off x="0" y="0"/>
              <a:ext cx="1060704" cy="219456"/>
            </a:xfrm>
            <a:custGeom>
              <a:avLst/>
              <a:gdLst/>
              <a:ahLst/>
              <a:cxnLst/>
              <a:rect r="r" b="b" t="t" l="l"/>
              <a:pathLst>
                <a:path h="219456" w="1060704">
                  <a:moveTo>
                    <a:pt x="0" y="36576"/>
                  </a:moveTo>
                  <a:cubicBezTo>
                    <a:pt x="0" y="16383"/>
                    <a:pt x="16383" y="0"/>
                    <a:pt x="36576" y="0"/>
                  </a:cubicBezTo>
                  <a:lnTo>
                    <a:pt x="1024128" y="0"/>
                  </a:lnTo>
                  <a:cubicBezTo>
                    <a:pt x="1044321" y="0"/>
                    <a:pt x="1060704" y="16383"/>
                    <a:pt x="1060704" y="36576"/>
                  </a:cubicBezTo>
                  <a:lnTo>
                    <a:pt x="1060704" y="182880"/>
                  </a:lnTo>
                  <a:cubicBezTo>
                    <a:pt x="1060704" y="203073"/>
                    <a:pt x="1044321" y="219456"/>
                    <a:pt x="1024128" y="219456"/>
                  </a:cubicBezTo>
                  <a:lnTo>
                    <a:pt x="36576" y="219456"/>
                  </a:lnTo>
                  <a:cubicBezTo>
                    <a:pt x="16383" y="219456"/>
                    <a:pt x="0" y="203073"/>
                    <a:pt x="0" y="182880"/>
                  </a:cubicBezTo>
                  <a:close/>
                </a:path>
              </a:pathLst>
            </a:custGeom>
            <a:solidFill>
              <a:srgbClr val="E4D7F5"/>
            </a:solidFill>
          </p:spPr>
        </p:sp>
      </p:grpSp>
      <p:grpSp>
        <p:nvGrpSpPr>
          <p:cNvPr name="Group 23" id="23"/>
          <p:cNvGrpSpPr/>
          <p:nvPr/>
        </p:nvGrpSpPr>
        <p:grpSpPr>
          <a:xfrm rot="0">
            <a:off x="813435" y="3488055"/>
            <a:ext cx="1088898" cy="869442"/>
            <a:chOff x="0" y="0"/>
            <a:chExt cx="1451864" cy="1159256"/>
          </a:xfrm>
        </p:grpSpPr>
        <p:sp>
          <p:nvSpPr>
            <p:cNvPr name="Freeform 24" id="24"/>
            <p:cNvSpPr/>
            <p:nvPr/>
          </p:nvSpPr>
          <p:spPr>
            <a:xfrm flipH="false" flipV="false" rot="0">
              <a:off x="0" y="0"/>
              <a:ext cx="1451737" cy="1159256"/>
            </a:xfrm>
            <a:custGeom>
              <a:avLst/>
              <a:gdLst/>
              <a:ahLst/>
              <a:cxnLst/>
              <a:rect r="r" b="b" t="t" l="l"/>
              <a:pathLst>
                <a:path h="1159256" w="1451737">
                  <a:moveTo>
                    <a:pt x="0" y="112141"/>
                  </a:moveTo>
                  <a:cubicBezTo>
                    <a:pt x="0" y="50165"/>
                    <a:pt x="50165" y="0"/>
                    <a:pt x="112141" y="0"/>
                  </a:cubicBezTo>
                  <a:lnTo>
                    <a:pt x="1339596" y="0"/>
                  </a:lnTo>
                  <a:cubicBezTo>
                    <a:pt x="1401572" y="0"/>
                    <a:pt x="1451737" y="50165"/>
                    <a:pt x="1451737" y="112141"/>
                  </a:cubicBezTo>
                  <a:lnTo>
                    <a:pt x="1451737" y="1047115"/>
                  </a:lnTo>
                  <a:cubicBezTo>
                    <a:pt x="1451737" y="1109091"/>
                    <a:pt x="1401572" y="1159256"/>
                    <a:pt x="1339596" y="1159256"/>
                  </a:cubicBezTo>
                  <a:lnTo>
                    <a:pt x="112141" y="1159256"/>
                  </a:lnTo>
                  <a:cubicBezTo>
                    <a:pt x="50165" y="1159256"/>
                    <a:pt x="0" y="1109091"/>
                    <a:pt x="0" y="1047115"/>
                  </a:cubicBezTo>
                  <a:close/>
                </a:path>
              </a:pathLst>
            </a:custGeom>
            <a:solidFill>
              <a:srgbClr val="4A148C"/>
            </a:solidFill>
            <a:ln w="19050" cap="sq">
              <a:solidFill>
                <a:srgbClr val="E3DCF0"/>
              </a:solidFill>
              <a:prstDash val="dash"/>
              <a:miter/>
            </a:ln>
          </p:spPr>
        </p:sp>
      </p:grpSp>
      <p:grpSp>
        <p:nvGrpSpPr>
          <p:cNvPr name="Group 25" id="25"/>
          <p:cNvGrpSpPr/>
          <p:nvPr/>
        </p:nvGrpSpPr>
        <p:grpSpPr>
          <a:xfrm rot="0">
            <a:off x="822960" y="3717036"/>
            <a:ext cx="1069848" cy="411480"/>
            <a:chOff x="0" y="0"/>
            <a:chExt cx="1426464" cy="548640"/>
          </a:xfrm>
        </p:grpSpPr>
        <p:sp>
          <p:nvSpPr>
            <p:cNvPr name="Freeform 26" id="26"/>
            <p:cNvSpPr/>
            <p:nvPr/>
          </p:nvSpPr>
          <p:spPr>
            <a:xfrm flipH="false" flipV="false" rot="0">
              <a:off x="0" y="0"/>
              <a:ext cx="1426464" cy="548640"/>
            </a:xfrm>
            <a:custGeom>
              <a:avLst/>
              <a:gdLst/>
              <a:ahLst/>
              <a:cxnLst/>
              <a:rect r="r" b="b" t="t" l="l"/>
              <a:pathLst>
                <a:path h="548640" w="1426464">
                  <a:moveTo>
                    <a:pt x="0" y="0"/>
                  </a:moveTo>
                  <a:lnTo>
                    <a:pt x="1426464" y="0"/>
                  </a:lnTo>
                  <a:lnTo>
                    <a:pt x="1426464" y="548640"/>
                  </a:lnTo>
                  <a:lnTo>
                    <a:pt x="0" y="548640"/>
                  </a:lnTo>
                  <a:close/>
                </a:path>
              </a:pathLst>
            </a:custGeom>
            <a:blipFill>
              <a:blip r:embed="rId3">
                <a:alphaModFix amt="0"/>
              </a:blip>
              <a:stretch>
                <a:fillRect l="0" t="-661" r="0" b="-661"/>
              </a:stretch>
            </a:blipFill>
          </p:spPr>
        </p:sp>
        <p:sp>
          <p:nvSpPr>
            <p:cNvPr name="TextBox 27" id="27"/>
            <p:cNvSpPr txBox="true"/>
            <p:nvPr/>
          </p:nvSpPr>
          <p:spPr>
            <a:xfrm>
              <a:off x="0" y="-19050"/>
              <a:ext cx="1426464" cy="567690"/>
            </a:xfrm>
            <a:prstGeom prst="rect">
              <a:avLst/>
            </a:prstGeom>
          </p:spPr>
          <p:txBody>
            <a:bodyPr anchor="ctr" rtlCol="false" tIns="0" lIns="0" bIns="0" rIns="0"/>
            <a:lstStyle/>
            <a:p>
              <a:pPr algn="ctr">
                <a:lnSpc>
                  <a:spcPts val="1980"/>
                </a:lnSpc>
              </a:pPr>
              <a:r>
                <a:rPr lang="en-US" sz="1650" b="true">
                  <a:solidFill>
                    <a:srgbClr val="FFFFFF"/>
                  </a:solidFill>
                  <a:latin typeface="Arial Bold"/>
                  <a:ea typeface="Arial Bold"/>
                  <a:cs typeface="Arial Bold"/>
                  <a:sym typeface="Arial Bold"/>
                </a:rPr>
                <a:t>S1</a:t>
              </a:r>
            </a:p>
          </p:txBody>
        </p:sp>
      </p:grpSp>
      <p:grpSp>
        <p:nvGrpSpPr>
          <p:cNvPr name="Group 28" id="28"/>
          <p:cNvGrpSpPr/>
          <p:nvPr/>
        </p:nvGrpSpPr>
        <p:grpSpPr>
          <a:xfrm rot="0">
            <a:off x="1892808" y="3895344"/>
            <a:ext cx="651510" cy="41148"/>
            <a:chOff x="0" y="0"/>
            <a:chExt cx="868680" cy="54864"/>
          </a:xfrm>
        </p:grpSpPr>
        <p:sp>
          <p:nvSpPr>
            <p:cNvPr name="Freeform 29" id="29"/>
            <p:cNvSpPr/>
            <p:nvPr/>
          </p:nvSpPr>
          <p:spPr>
            <a:xfrm flipH="false" flipV="false" rot="0">
              <a:off x="0" y="0"/>
              <a:ext cx="868680" cy="54864"/>
            </a:xfrm>
            <a:custGeom>
              <a:avLst/>
              <a:gdLst/>
              <a:ahLst/>
              <a:cxnLst/>
              <a:rect r="r" b="b" t="t" l="l"/>
              <a:pathLst>
                <a:path h="54864" w="868680">
                  <a:moveTo>
                    <a:pt x="0" y="0"/>
                  </a:moveTo>
                  <a:lnTo>
                    <a:pt x="868680" y="0"/>
                  </a:lnTo>
                  <a:lnTo>
                    <a:pt x="868680" y="54864"/>
                  </a:lnTo>
                  <a:lnTo>
                    <a:pt x="0" y="54864"/>
                  </a:lnTo>
                  <a:close/>
                </a:path>
              </a:pathLst>
            </a:custGeom>
            <a:solidFill>
              <a:srgbClr val="D8D0E8"/>
            </a:solidFill>
          </p:spPr>
        </p:sp>
      </p:grpSp>
      <p:grpSp>
        <p:nvGrpSpPr>
          <p:cNvPr name="Group 30" id="30"/>
          <p:cNvGrpSpPr/>
          <p:nvPr/>
        </p:nvGrpSpPr>
        <p:grpSpPr>
          <a:xfrm rot="0">
            <a:off x="2681478" y="3223260"/>
            <a:ext cx="795528" cy="164592"/>
            <a:chOff x="0" y="0"/>
            <a:chExt cx="1060704" cy="219456"/>
          </a:xfrm>
        </p:grpSpPr>
        <p:sp>
          <p:nvSpPr>
            <p:cNvPr name="Freeform 31" id="31"/>
            <p:cNvSpPr/>
            <p:nvPr/>
          </p:nvSpPr>
          <p:spPr>
            <a:xfrm flipH="false" flipV="false" rot="0">
              <a:off x="0" y="0"/>
              <a:ext cx="1060704" cy="219456"/>
            </a:xfrm>
            <a:custGeom>
              <a:avLst/>
              <a:gdLst/>
              <a:ahLst/>
              <a:cxnLst/>
              <a:rect r="r" b="b" t="t" l="l"/>
              <a:pathLst>
                <a:path h="219456" w="1060704">
                  <a:moveTo>
                    <a:pt x="0" y="36576"/>
                  </a:moveTo>
                  <a:cubicBezTo>
                    <a:pt x="0" y="16383"/>
                    <a:pt x="16383" y="0"/>
                    <a:pt x="36576" y="0"/>
                  </a:cubicBezTo>
                  <a:lnTo>
                    <a:pt x="1024128" y="0"/>
                  </a:lnTo>
                  <a:cubicBezTo>
                    <a:pt x="1044321" y="0"/>
                    <a:pt x="1060704" y="16383"/>
                    <a:pt x="1060704" y="36576"/>
                  </a:cubicBezTo>
                  <a:lnTo>
                    <a:pt x="1060704" y="182880"/>
                  </a:lnTo>
                  <a:cubicBezTo>
                    <a:pt x="1060704" y="203073"/>
                    <a:pt x="1044321" y="219456"/>
                    <a:pt x="1024128" y="219456"/>
                  </a:cubicBezTo>
                  <a:lnTo>
                    <a:pt x="36576" y="219456"/>
                  </a:lnTo>
                  <a:cubicBezTo>
                    <a:pt x="16383" y="219456"/>
                    <a:pt x="0" y="203073"/>
                    <a:pt x="0" y="182880"/>
                  </a:cubicBezTo>
                  <a:close/>
                </a:path>
              </a:pathLst>
            </a:custGeom>
            <a:solidFill>
              <a:srgbClr val="E4D7F5"/>
            </a:solidFill>
          </p:spPr>
        </p:sp>
      </p:grpSp>
      <p:grpSp>
        <p:nvGrpSpPr>
          <p:cNvPr name="Group 32" id="32"/>
          <p:cNvGrpSpPr/>
          <p:nvPr/>
        </p:nvGrpSpPr>
        <p:grpSpPr>
          <a:xfrm rot="0">
            <a:off x="2681478" y="3003804"/>
            <a:ext cx="795528" cy="164592"/>
            <a:chOff x="0" y="0"/>
            <a:chExt cx="1060704" cy="219456"/>
          </a:xfrm>
        </p:grpSpPr>
        <p:sp>
          <p:nvSpPr>
            <p:cNvPr name="Freeform 33" id="33"/>
            <p:cNvSpPr/>
            <p:nvPr/>
          </p:nvSpPr>
          <p:spPr>
            <a:xfrm flipH="false" flipV="false" rot="0">
              <a:off x="0" y="0"/>
              <a:ext cx="1060704" cy="219456"/>
            </a:xfrm>
            <a:custGeom>
              <a:avLst/>
              <a:gdLst/>
              <a:ahLst/>
              <a:cxnLst/>
              <a:rect r="r" b="b" t="t" l="l"/>
              <a:pathLst>
                <a:path h="219456" w="1060704">
                  <a:moveTo>
                    <a:pt x="0" y="36576"/>
                  </a:moveTo>
                  <a:cubicBezTo>
                    <a:pt x="0" y="16383"/>
                    <a:pt x="16383" y="0"/>
                    <a:pt x="36576" y="0"/>
                  </a:cubicBezTo>
                  <a:lnTo>
                    <a:pt x="1024128" y="0"/>
                  </a:lnTo>
                  <a:cubicBezTo>
                    <a:pt x="1044321" y="0"/>
                    <a:pt x="1060704" y="16383"/>
                    <a:pt x="1060704" y="36576"/>
                  </a:cubicBezTo>
                  <a:lnTo>
                    <a:pt x="1060704" y="182880"/>
                  </a:lnTo>
                  <a:cubicBezTo>
                    <a:pt x="1060704" y="203073"/>
                    <a:pt x="1044321" y="219456"/>
                    <a:pt x="1024128" y="219456"/>
                  </a:cubicBezTo>
                  <a:lnTo>
                    <a:pt x="36576" y="219456"/>
                  </a:lnTo>
                  <a:cubicBezTo>
                    <a:pt x="16383" y="219456"/>
                    <a:pt x="0" y="203073"/>
                    <a:pt x="0" y="182880"/>
                  </a:cubicBezTo>
                  <a:close/>
                </a:path>
              </a:pathLst>
            </a:custGeom>
            <a:solidFill>
              <a:srgbClr val="E4D7F5"/>
            </a:solidFill>
          </p:spPr>
        </p:sp>
      </p:grpSp>
      <p:grpSp>
        <p:nvGrpSpPr>
          <p:cNvPr name="Group 34" id="34"/>
          <p:cNvGrpSpPr/>
          <p:nvPr/>
        </p:nvGrpSpPr>
        <p:grpSpPr>
          <a:xfrm rot="0">
            <a:off x="2534793" y="3488055"/>
            <a:ext cx="1088898" cy="869442"/>
            <a:chOff x="0" y="0"/>
            <a:chExt cx="1451864" cy="1159256"/>
          </a:xfrm>
        </p:grpSpPr>
        <p:sp>
          <p:nvSpPr>
            <p:cNvPr name="Freeform 35" id="35"/>
            <p:cNvSpPr/>
            <p:nvPr/>
          </p:nvSpPr>
          <p:spPr>
            <a:xfrm flipH="false" flipV="false" rot="0">
              <a:off x="0" y="0"/>
              <a:ext cx="1451737" cy="1159256"/>
            </a:xfrm>
            <a:custGeom>
              <a:avLst/>
              <a:gdLst/>
              <a:ahLst/>
              <a:cxnLst/>
              <a:rect r="r" b="b" t="t" l="l"/>
              <a:pathLst>
                <a:path h="1159256" w="1451737">
                  <a:moveTo>
                    <a:pt x="0" y="112141"/>
                  </a:moveTo>
                  <a:cubicBezTo>
                    <a:pt x="0" y="50165"/>
                    <a:pt x="50165" y="0"/>
                    <a:pt x="112141" y="0"/>
                  </a:cubicBezTo>
                  <a:lnTo>
                    <a:pt x="1339596" y="0"/>
                  </a:lnTo>
                  <a:cubicBezTo>
                    <a:pt x="1401572" y="0"/>
                    <a:pt x="1451737" y="50165"/>
                    <a:pt x="1451737" y="112141"/>
                  </a:cubicBezTo>
                  <a:lnTo>
                    <a:pt x="1451737" y="1047115"/>
                  </a:lnTo>
                  <a:cubicBezTo>
                    <a:pt x="1451737" y="1109091"/>
                    <a:pt x="1401572" y="1159256"/>
                    <a:pt x="1339596" y="1159256"/>
                  </a:cubicBezTo>
                  <a:lnTo>
                    <a:pt x="112141" y="1159256"/>
                  </a:lnTo>
                  <a:cubicBezTo>
                    <a:pt x="50165" y="1159256"/>
                    <a:pt x="0" y="1109091"/>
                    <a:pt x="0" y="1047115"/>
                  </a:cubicBezTo>
                  <a:close/>
                </a:path>
              </a:pathLst>
            </a:custGeom>
            <a:solidFill>
              <a:srgbClr val="4A148C"/>
            </a:solidFill>
            <a:ln w="19050" cap="sq">
              <a:solidFill>
                <a:srgbClr val="E3DCF0"/>
              </a:solidFill>
              <a:prstDash val="dash"/>
              <a:miter/>
            </a:ln>
          </p:spPr>
        </p:sp>
      </p:grpSp>
      <p:grpSp>
        <p:nvGrpSpPr>
          <p:cNvPr name="Group 36" id="36"/>
          <p:cNvGrpSpPr/>
          <p:nvPr/>
        </p:nvGrpSpPr>
        <p:grpSpPr>
          <a:xfrm rot="0">
            <a:off x="2544318" y="3717036"/>
            <a:ext cx="1069848" cy="411480"/>
            <a:chOff x="0" y="0"/>
            <a:chExt cx="1426464" cy="548640"/>
          </a:xfrm>
        </p:grpSpPr>
        <p:sp>
          <p:nvSpPr>
            <p:cNvPr name="Freeform 37" id="37"/>
            <p:cNvSpPr/>
            <p:nvPr/>
          </p:nvSpPr>
          <p:spPr>
            <a:xfrm flipH="false" flipV="false" rot="0">
              <a:off x="0" y="0"/>
              <a:ext cx="1426464" cy="548640"/>
            </a:xfrm>
            <a:custGeom>
              <a:avLst/>
              <a:gdLst/>
              <a:ahLst/>
              <a:cxnLst/>
              <a:rect r="r" b="b" t="t" l="l"/>
              <a:pathLst>
                <a:path h="548640" w="1426464">
                  <a:moveTo>
                    <a:pt x="0" y="0"/>
                  </a:moveTo>
                  <a:lnTo>
                    <a:pt x="1426464" y="0"/>
                  </a:lnTo>
                  <a:lnTo>
                    <a:pt x="1426464" y="548640"/>
                  </a:lnTo>
                  <a:lnTo>
                    <a:pt x="0" y="548640"/>
                  </a:lnTo>
                  <a:close/>
                </a:path>
              </a:pathLst>
            </a:custGeom>
            <a:blipFill>
              <a:blip r:embed="rId3">
                <a:alphaModFix amt="0"/>
              </a:blip>
              <a:stretch>
                <a:fillRect l="0" t="-661" r="0" b="-661"/>
              </a:stretch>
            </a:blipFill>
          </p:spPr>
        </p:sp>
        <p:sp>
          <p:nvSpPr>
            <p:cNvPr name="TextBox 38" id="38"/>
            <p:cNvSpPr txBox="true"/>
            <p:nvPr/>
          </p:nvSpPr>
          <p:spPr>
            <a:xfrm>
              <a:off x="0" y="-19050"/>
              <a:ext cx="1426464" cy="567690"/>
            </a:xfrm>
            <a:prstGeom prst="rect">
              <a:avLst/>
            </a:prstGeom>
          </p:spPr>
          <p:txBody>
            <a:bodyPr anchor="ctr" rtlCol="false" tIns="0" lIns="0" bIns="0" rIns="0"/>
            <a:lstStyle/>
            <a:p>
              <a:pPr algn="ctr">
                <a:lnSpc>
                  <a:spcPts val="1980"/>
                </a:lnSpc>
              </a:pPr>
              <a:r>
                <a:rPr lang="en-US" sz="1650" b="true">
                  <a:solidFill>
                    <a:srgbClr val="FFFFFF"/>
                  </a:solidFill>
                  <a:latin typeface="Arial Bold"/>
                  <a:ea typeface="Arial Bold"/>
                  <a:cs typeface="Arial Bold"/>
                  <a:sym typeface="Arial Bold"/>
                </a:rPr>
                <a:t>S2</a:t>
              </a:r>
            </a:p>
          </p:txBody>
        </p:sp>
      </p:grpSp>
      <p:grpSp>
        <p:nvGrpSpPr>
          <p:cNvPr name="Group 39" id="39"/>
          <p:cNvGrpSpPr/>
          <p:nvPr/>
        </p:nvGrpSpPr>
        <p:grpSpPr>
          <a:xfrm rot="0">
            <a:off x="3614166" y="3895344"/>
            <a:ext cx="651510" cy="41148"/>
            <a:chOff x="0" y="0"/>
            <a:chExt cx="868680" cy="54864"/>
          </a:xfrm>
        </p:grpSpPr>
        <p:sp>
          <p:nvSpPr>
            <p:cNvPr name="Freeform 40" id="40"/>
            <p:cNvSpPr/>
            <p:nvPr/>
          </p:nvSpPr>
          <p:spPr>
            <a:xfrm flipH="false" flipV="false" rot="0">
              <a:off x="0" y="0"/>
              <a:ext cx="868680" cy="54864"/>
            </a:xfrm>
            <a:custGeom>
              <a:avLst/>
              <a:gdLst/>
              <a:ahLst/>
              <a:cxnLst/>
              <a:rect r="r" b="b" t="t" l="l"/>
              <a:pathLst>
                <a:path h="54864" w="868680">
                  <a:moveTo>
                    <a:pt x="0" y="0"/>
                  </a:moveTo>
                  <a:lnTo>
                    <a:pt x="868680" y="0"/>
                  </a:lnTo>
                  <a:lnTo>
                    <a:pt x="868680" y="54864"/>
                  </a:lnTo>
                  <a:lnTo>
                    <a:pt x="0" y="54864"/>
                  </a:lnTo>
                  <a:close/>
                </a:path>
              </a:pathLst>
            </a:custGeom>
            <a:solidFill>
              <a:srgbClr val="D8D0E8"/>
            </a:solidFill>
          </p:spPr>
        </p:sp>
      </p:grpSp>
      <p:grpSp>
        <p:nvGrpSpPr>
          <p:cNvPr name="Group 41" id="41"/>
          <p:cNvGrpSpPr/>
          <p:nvPr/>
        </p:nvGrpSpPr>
        <p:grpSpPr>
          <a:xfrm rot="0">
            <a:off x="4256151" y="3488055"/>
            <a:ext cx="1088898" cy="869442"/>
            <a:chOff x="0" y="0"/>
            <a:chExt cx="1451864" cy="1159256"/>
          </a:xfrm>
        </p:grpSpPr>
        <p:sp>
          <p:nvSpPr>
            <p:cNvPr name="Freeform 42" id="42"/>
            <p:cNvSpPr/>
            <p:nvPr/>
          </p:nvSpPr>
          <p:spPr>
            <a:xfrm flipH="false" flipV="false" rot="0">
              <a:off x="0" y="0"/>
              <a:ext cx="1451737" cy="1159256"/>
            </a:xfrm>
            <a:custGeom>
              <a:avLst/>
              <a:gdLst/>
              <a:ahLst/>
              <a:cxnLst/>
              <a:rect r="r" b="b" t="t" l="l"/>
              <a:pathLst>
                <a:path h="1159256" w="1451737">
                  <a:moveTo>
                    <a:pt x="0" y="112141"/>
                  </a:moveTo>
                  <a:cubicBezTo>
                    <a:pt x="0" y="50165"/>
                    <a:pt x="50165" y="0"/>
                    <a:pt x="112141" y="0"/>
                  </a:cubicBezTo>
                  <a:lnTo>
                    <a:pt x="1339596" y="0"/>
                  </a:lnTo>
                  <a:cubicBezTo>
                    <a:pt x="1401572" y="0"/>
                    <a:pt x="1451737" y="50165"/>
                    <a:pt x="1451737" y="112141"/>
                  </a:cubicBezTo>
                  <a:lnTo>
                    <a:pt x="1451737" y="1047115"/>
                  </a:lnTo>
                  <a:cubicBezTo>
                    <a:pt x="1451737" y="1109091"/>
                    <a:pt x="1401572" y="1159256"/>
                    <a:pt x="1339596" y="1159256"/>
                  </a:cubicBezTo>
                  <a:lnTo>
                    <a:pt x="112141" y="1159256"/>
                  </a:lnTo>
                  <a:cubicBezTo>
                    <a:pt x="50165" y="1159256"/>
                    <a:pt x="0" y="1109091"/>
                    <a:pt x="0" y="1047115"/>
                  </a:cubicBezTo>
                  <a:close/>
                </a:path>
              </a:pathLst>
            </a:custGeom>
            <a:solidFill>
              <a:srgbClr val="FF6F3C"/>
            </a:solidFill>
            <a:ln w="19050" cap="sq">
              <a:solidFill>
                <a:srgbClr val="E3DCF0"/>
              </a:solidFill>
              <a:prstDash val="dash"/>
              <a:miter/>
            </a:ln>
          </p:spPr>
        </p:sp>
      </p:grpSp>
      <p:grpSp>
        <p:nvGrpSpPr>
          <p:cNvPr name="Group 43" id="43"/>
          <p:cNvGrpSpPr/>
          <p:nvPr/>
        </p:nvGrpSpPr>
        <p:grpSpPr>
          <a:xfrm rot="0">
            <a:off x="4265676" y="3717036"/>
            <a:ext cx="1069848" cy="411480"/>
            <a:chOff x="0" y="0"/>
            <a:chExt cx="1426464" cy="548640"/>
          </a:xfrm>
        </p:grpSpPr>
        <p:sp>
          <p:nvSpPr>
            <p:cNvPr name="Freeform 44" id="44"/>
            <p:cNvSpPr/>
            <p:nvPr/>
          </p:nvSpPr>
          <p:spPr>
            <a:xfrm flipH="false" flipV="false" rot="0">
              <a:off x="0" y="0"/>
              <a:ext cx="1426464" cy="548640"/>
            </a:xfrm>
            <a:custGeom>
              <a:avLst/>
              <a:gdLst/>
              <a:ahLst/>
              <a:cxnLst/>
              <a:rect r="r" b="b" t="t" l="l"/>
              <a:pathLst>
                <a:path h="548640" w="1426464">
                  <a:moveTo>
                    <a:pt x="0" y="0"/>
                  </a:moveTo>
                  <a:lnTo>
                    <a:pt x="1426464" y="0"/>
                  </a:lnTo>
                  <a:lnTo>
                    <a:pt x="1426464" y="548640"/>
                  </a:lnTo>
                  <a:lnTo>
                    <a:pt x="0" y="548640"/>
                  </a:lnTo>
                  <a:close/>
                </a:path>
              </a:pathLst>
            </a:custGeom>
            <a:blipFill>
              <a:blip r:embed="rId3">
                <a:alphaModFix amt="0"/>
              </a:blip>
              <a:stretch>
                <a:fillRect l="0" t="-661" r="0" b="-661"/>
              </a:stretch>
            </a:blipFill>
          </p:spPr>
        </p:sp>
        <p:sp>
          <p:nvSpPr>
            <p:cNvPr name="TextBox 45" id="45"/>
            <p:cNvSpPr txBox="true"/>
            <p:nvPr/>
          </p:nvSpPr>
          <p:spPr>
            <a:xfrm>
              <a:off x="0" y="-19050"/>
              <a:ext cx="1426464" cy="567690"/>
            </a:xfrm>
            <a:prstGeom prst="rect">
              <a:avLst/>
            </a:prstGeom>
          </p:spPr>
          <p:txBody>
            <a:bodyPr anchor="ctr" rtlCol="false" tIns="0" lIns="0" bIns="0" rIns="0"/>
            <a:lstStyle/>
            <a:p>
              <a:pPr algn="ctr">
                <a:lnSpc>
                  <a:spcPts val="1980"/>
                </a:lnSpc>
              </a:pPr>
              <a:r>
                <a:rPr lang="en-US" sz="1650" b="true">
                  <a:solidFill>
                    <a:srgbClr val="FFFFFF"/>
                  </a:solidFill>
                  <a:latin typeface="Arial Bold"/>
                  <a:ea typeface="Arial Bold"/>
                  <a:cs typeface="Arial Bold"/>
                  <a:sym typeface="Arial Bold"/>
                </a:rPr>
                <a:t>S3</a:t>
              </a:r>
            </a:p>
          </p:txBody>
        </p:sp>
      </p:grpSp>
      <p:grpSp>
        <p:nvGrpSpPr>
          <p:cNvPr name="Group 46" id="46"/>
          <p:cNvGrpSpPr/>
          <p:nvPr/>
        </p:nvGrpSpPr>
        <p:grpSpPr>
          <a:xfrm rot="0">
            <a:off x="5335524" y="3895344"/>
            <a:ext cx="651510" cy="41148"/>
            <a:chOff x="0" y="0"/>
            <a:chExt cx="868680" cy="54864"/>
          </a:xfrm>
        </p:grpSpPr>
        <p:sp>
          <p:nvSpPr>
            <p:cNvPr name="Freeform 47" id="47"/>
            <p:cNvSpPr/>
            <p:nvPr/>
          </p:nvSpPr>
          <p:spPr>
            <a:xfrm flipH="false" flipV="false" rot="0">
              <a:off x="0" y="0"/>
              <a:ext cx="868680" cy="54864"/>
            </a:xfrm>
            <a:custGeom>
              <a:avLst/>
              <a:gdLst/>
              <a:ahLst/>
              <a:cxnLst/>
              <a:rect r="r" b="b" t="t" l="l"/>
              <a:pathLst>
                <a:path h="54864" w="868680">
                  <a:moveTo>
                    <a:pt x="0" y="0"/>
                  </a:moveTo>
                  <a:lnTo>
                    <a:pt x="868680" y="0"/>
                  </a:lnTo>
                  <a:lnTo>
                    <a:pt x="868680" y="54864"/>
                  </a:lnTo>
                  <a:lnTo>
                    <a:pt x="0" y="54864"/>
                  </a:lnTo>
                  <a:close/>
                </a:path>
              </a:pathLst>
            </a:custGeom>
            <a:solidFill>
              <a:srgbClr val="D8D0E8"/>
            </a:solidFill>
          </p:spPr>
        </p:sp>
      </p:grpSp>
      <p:grpSp>
        <p:nvGrpSpPr>
          <p:cNvPr name="Group 48" id="48"/>
          <p:cNvGrpSpPr/>
          <p:nvPr/>
        </p:nvGrpSpPr>
        <p:grpSpPr>
          <a:xfrm rot="0">
            <a:off x="5977509" y="3488055"/>
            <a:ext cx="1088898" cy="869442"/>
            <a:chOff x="0" y="0"/>
            <a:chExt cx="1451864" cy="1159256"/>
          </a:xfrm>
        </p:grpSpPr>
        <p:sp>
          <p:nvSpPr>
            <p:cNvPr name="Freeform 49" id="49"/>
            <p:cNvSpPr/>
            <p:nvPr/>
          </p:nvSpPr>
          <p:spPr>
            <a:xfrm flipH="false" flipV="false" rot="0">
              <a:off x="0" y="0"/>
              <a:ext cx="1451737" cy="1159256"/>
            </a:xfrm>
            <a:custGeom>
              <a:avLst/>
              <a:gdLst/>
              <a:ahLst/>
              <a:cxnLst/>
              <a:rect r="r" b="b" t="t" l="l"/>
              <a:pathLst>
                <a:path h="1159256" w="1451737">
                  <a:moveTo>
                    <a:pt x="0" y="112141"/>
                  </a:moveTo>
                  <a:cubicBezTo>
                    <a:pt x="0" y="50165"/>
                    <a:pt x="50165" y="0"/>
                    <a:pt x="112141" y="0"/>
                  </a:cubicBezTo>
                  <a:lnTo>
                    <a:pt x="1339596" y="0"/>
                  </a:lnTo>
                  <a:cubicBezTo>
                    <a:pt x="1401572" y="0"/>
                    <a:pt x="1451737" y="50165"/>
                    <a:pt x="1451737" y="112141"/>
                  </a:cubicBezTo>
                  <a:lnTo>
                    <a:pt x="1451737" y="1047115"/>
                  </a:lnTo>
                  <a:cubicBezTo>
                    <a:pt x="1451737" y="1109091"/>
                    <a:pt x="1401572" y="1159256"/>
                    <a:pt x="1339596" y="1159256"/>
                  </a:cubicBezTo>
                  <a:lnTo>
                    <a:pt x="112141" y="1159256"/>
                  </a:lnTo>
                  <a:cubicBezTo>
                    <a:pt x="50165" y="1159256"/>
                    <a:pt x="0" y="1109091"/>
                    <a:pt x="0" y="1047115"/>
                  </a:cubicBezTo>
                  <a:close/>
                </a:path>
              </a:pathLst>
            </a:custGeom>
            <a:solidFill>
              <a:srgbClr val="F5F3FA"/>
            </a:solidFill>
            <a:ln w="19050" cap="sq">
              <a:solidFill>
                <a:srgbClr val="E3DCF0"/>
              </a:solidFill>
              <a:prstDash val="dash"/>
              <a:miter/>
            </a:ln>
          </p:spPr>
        </p:sp>
      </p:grpSp>
      <p:grpSp>
        <p:nvGrpSpPr>
          <p:cNvPr name="Group 50" id="50"/>
          <p:cNvGrpSpPr/>
          <p:nvPr/>
        </p:nvGrpSpPr>
        <p:grpSpPr>
          <a:xfrm rot="0">
            <a:off x="5987034" y="3717036"/>
            <a:ext cx="1069848" cy="411480"/>
            <a:chOff x="0" y="0"/>
            <a:chExt cx="1426464" cy="548640"/>
          </a:xfrm>
        </p:grpSpPr>
        <p:sp>
          <p:nvSpPr>
            <p:cNvPr name="Freeform 51" id="51"/>
            <p:cNvSpPr/>
            <p:nvPr/>
          </p:nvSpPr>
          <p:spPr>
            <a:xfrm flipH="false" flipV="false" rot="0">
              <a:off x="0" y="0"/>
              <a:ext cx="1426464" cy="548640"/>
            </a:xfrm>
            <a:custGeom>
              <a:avLst/>
              <a:gdLst/>
              <a:ahLst/>
              <a:cxnLst/>
              <a:rect r="r" b="b" t="t" l="l"/>
              <a:pathLst>
                <a:path h="548640" w="1426464">
                  <a:moveTo>
                    <a:pt x="0" y="0"/>
                  </a:moveTo>
                  <a:lnTo>
                    <a:pt x="1426464" y="0"/>
                  </a:lnTo>
                  <a:lnTo>
                    <a:pt x="1426464" y="548640"/>
                  </a:lnTo>
                  <a:lnTo>
                    <a:pt x="0" y="548640"/>
                  </a:lnTo>
                  <a:close/>
                </a:path>
              </a:pathLst>
            </a:custGeom>
            <a:blipFill>
              <a:blip r:embed="rId3">
                <a:alphaModFix amt="0"/>
              </a:blip>
              <a:stretch>
                <a:fillRect l="0" t="-661" r="0" b="-661"/>
              </a:stretch>
            </a:blipFill>
          </p:spPr>
        </p:sp>
        <p:sp>
          <p:nvSpPr>
            <p:cNvPr name="TextBox 52" id="52"/>
            <p:cNvSpPr txBox="true"/>
            <p:nvPr/>
          </p:nvSpPr>
          <p:spPr>
            <a:xfrm>
              <a:off x="0" y="-19050"/>
              <a:ext cx="1426464" cy="567690"/>
            </a:xfrm>
            <a:prstGeom prst="rect">
              <a:avLst/>
            </a:prstGeom>
          </p:spPr>
          <p:txBody>
            <a:bodyPr anchor="ctr" rtlCol="false" tIns="0" lIns="0" bIns="0" rIns="0"/>
            <a:lstStyle/>
            <a:p>
              <a:pPr algn="ctr">
                <a:lnSpc>
                  <a:spcPts val="1980"/>
                </a:lnSpc>
              </a:pPr>
              <a:r>
                <a:rPr lang="en-US" sz="1650" b="true">
                  <a:solidFill>
                    <a:srgbClr val="B9AFC9"/>
                  </a:solidFill>
                  <a:latin typeface="Arial Bold"/>
                  <a:ea typeface="Arial Bold"/>
                  <a:cs typeface="Arial Bold"/>
                  <a:sym typeface="Arial Bold"/>
                </a:rPr>
                <a:t>S4</a:t>
              </a:r>
            </a:p>
          </p:txBody>
        </p:sp>
      </p:grpSp>
      <p:grpSp>
        <p:nvGrpSpPr>
          <p:cNvPr name="Group 53" id="53"/>
          <p:cNvGrpSpPr/>
          <p:nvPr/>
        </p:nvGrpSpPr>
        <p:grpSpPr>
          <a:xfrm rot="0">
            <a:off x="7056882" y="3895344"/>
            <a:ext cx="651510" cy="41148"/>
            <a:chOff x="0" y="0"/>
            <a:chExt cx="868680" cy="54864"/>
          </a:xfrm>
        </p:grpSpPr>
        <p:sp>
          <p:nvSpPr>
            <p:cNvPr name="Freeform 54" id="54"/>
            <p:cNvSpPr/>
            <p:nvPr/>
          </p:nvSpPr>
          <p:spPr>
            <a:xfrm flipH="false" flipV="false" rot="0">
              <a:off x="0" y="0"/>
              <a:ext cx="868680" cy="54864"/>
            </a:xfrm>
            <a:custGeom>
              <a:avLst/>
              <a:gdLst/>
              <a:ahLst/>
              <a:cxnLst/>
              <a:rect r="r" b="b" t="t" l="l"/>
              <a:pathLst>
                <a:path h="54864" w="868680">
                  <a:moveTo>
                    <a:pt x="0" y="0"/>
                  </a:moveTo>
                  <a:lnTo>
                    <a:pt x="868680" y="0"/>
                  </a:lnTo>
                  <a:lnTo>
                    <a:pt x="868680" y="54864"/>
                  </a:lnTo>
                  <a:lnTo>
                    <a:pt x="0" y="54864"/>
                  </a:lnTo>
                  <a:close/>
                </a:path>
              </a:pathLst>
            </a:custGeom>
            <a:solidFill>
              <a:srgbClr val="D8D0E8"/>
            </a:solidFill>
          </p:spPr>
        </p:sp>
      </p:grpSp>
      <p:grpSp>
        <p:nvGrpSpPr>
          <p:cNvPr name="Group 55" id="55"/>
          <p:cNvGrpSpPr/>
          <p:nvPr/>
        </p:nvGrpSpPr>
        <p:grpSpPr>
          <a:xfrm rot="0">
            <a:off x="7698867" y="3488055"/>
            <a:ext cx="1088898" cy="869442"/>
            <a:chOff x="0" y="0"/>
            <a:chExt cx="1451864" cy="1159256"/>
          </a:xfrm>
        </p:grpSpPr>
        <p:sp>
          <p:nvSpPr>
            <p:cNvPr name="Freeform 56" id="56"/>
            <p:cNvSpPr/>
            <p:nvPr/>
          </p:nvSpPr>
          <p:spPr>
            <a:xfrm flipH="false" flipV="false" rot="0">
              <a:off x="0" y="0"/>
              <a:ext cx="1451737" cy="1159256"/>
            </a:xfrm>
            <a:custGeom>
              <a:avLst/>
              <a:gdLst/>
              <a:ahLst/>
              <a:cxnLst/>
              <a:rect r="r" b="b" t="t" l="l"/>
              <a:pathLst>
                <a:path h="1159256" w="1451737">
                  <a:moveTo>
                    <a:pt x="0" y="112141"/>
                  </a:moveTo>
                  <a:cubicBezTo>
                    <a:pt x="0" y="50165"/>
                    <a:pt x="50165" y="0"/>
                    <a:pt x="112141" y="0"/>
                  </a:cubicBezTo>
                  <a:lnTo>
                    <a:pt x="1339596" y="0"/>
                  </a:lnTo>
                  <a:cubicBezTo>
                    <a:pt x="1401572" y="0"/>
                    <a:pt x="1451737" y="50165"/>
                    <a:pt x="1451737" y="112141"/>
                  </a:cubicBezTo>
                  <a:lnTo>
                    <a:pt x="1451737" y="1047115"/>
                  </a:lnTo>
                  <a:cubicBezTo>
                    <a:pt x="1451737" y="1109091"/>
                    <a:pt x="1401572" y="1159256"/>
                    <a:pt x="1339596" y="1159256"/>
                  </a:cubicBezTo>
                  <a:lnTo>
                    <a:pt x="112141" y="1159256"/>
                  </a:lnTo>
                  <a:cubicBezTo>
                    <a:pt x="50165" y="1159256"/>
                    <a:pt x="0" y="1109091"/>
                    <a:pt x="0" y="1047115"/>
                  </a:cubicBezTo>
                  <a:close/>
                </a:path>
              </a:pathLst>
            </a:custGeom>
            <a:solidFill>
              <a:srgbClr val="F5F3FA"/>
            </a:solidFill>
            <a:ln w="19050" cap="sq">
              <a:solidFill>
                <a:srgbClr val="E3DCF0"/>
              </a:solidFill>
              <a:prstDash val="dash"/>
              <a:miter/>
            </a:ln>
          </p:spPr>
        </p:sp>
      </p:grpSp>
      <p:grpSp>
        <p:nvGrpSpPr>
          <p:cNvPr name="Group 57" id="57"/>
          <p:cNvGrpSpPr/>
          <p:nvPr/>
        </p:nvGrpSpPr>
        <p:grpSpPr>
          <a:xfrm rot="0">
            <a:off x="7708392" y="3717036"/>
            <a:ext cx="1069848" cy="411480"/>
            <a:chOff x="0" y="0"/>
            <a:chExt cx="1426464" cy="548640"/>
          </a:xfrm>
        </p:grpSpPr>
        <p:sp>
          <p:nvSpPr>
            <p:cNvPr name="Freeform 58" id="58"/>
            <p:cNvSpPr/>
            <p:nvPr/>
          </p:nvSpPr>
          <p:spPr>
            <a:xfrm flipH="false" flipV="false" rot="0">
              <a:off x="0" y="0"/>
              <a:ext cx="1426464" cy="548640"/>
            </a:xfrm>
            <a:custGeom>
              <a:avLst/>
              <a:gdLst/>
              <a:ahLst/>
              <a:cxnLst/>
              <a:rect r="r" b="b" t="t" l="l"/>
              <a:pathLst>
                <a:path h="548640" w="1426464">
                  <a:moveTo>
                    <a:pt x="0" y="0"/>
                  </a:moveTo>
                  <a:lnTo>
                    <a:pt x="1426464" y="0"/>
                  </a:lnTo>
                  <a:lnTo>
                    <a:pt x="1426464" y="548640"/>
                  </a:lnTo>
                  <a:lnTo>
                    <a:pt x="0" y="548640"/>
                  </a:lnTo>
                  <a:close/>
                </a:path>
              </a:pathLst>
            </a:custGeom>
            <a:blipFill>
              <a:blip r:embed="rId3">
                <a:alphaModFix amt="0"/>
              </a:blip>
              <a:stretch>
                <a:fillRect l="0" t="-661" r="0" b="-661"/>
              </a:stretch>
            </a:blipFill>
          </p:spPr>
        </p:sp>
        <p:sp>
          <p:nvSpPr>
            <p:cNvPr name="TextBox 59" id="59"/>
            <p:cNvSpPr txBox="true"/>
            <p:nvPr/>
          </p:nvSpPr>
          <p:spPr>
            <a:xfrm>
              <a:off x="0" y="-19050"/>
              <a:ext cx="1426464" cy="567690"/>
            </a:xfrm>
            <a:prstGeom prst="rect">
              <a:avLst/>
            </a:prstGeom>
          </p:spPr>
          <p:txBody>
            <a:bodyPr anchor="ctr" rtlCol="false" tIns="0" lIns="0" bIns="0" rIns="0"/>
            <a:lstStyle/>
            <a:p>
              <a:pPr algn="ctr">
                <a:lnSpc>
                  <a:spcPts val="1980"/>
                </a:lnSpc>
              </a:pPr>
              <a:r>
                <a:rPr lang="en-US" sz="1650" b="true">
                  <a:solidFill>
                    <a:srgbClr val="B9AFC9"/>
                  </a:solidFill>
                  <a:latin typeface="Arial Bold"/>
                  <a:ea typeface="Arial Bold"/>
                  <a:cs typeface="Arial Bold"/>
                  <a:sym typeface="Arial Bold"/>
                </a:rPr>
                <a:t>S5</a:t>
              </a:r>
            </a:p>
          </p:txBody>
        </p:sp>
      </p:grpSp>
      <p:grpSp>
        <p:nvGrpSpPr>
          <p:cNvPr name="Group 60" id="60"/>
          <p:cNvGrpSpPr/>
          <p:nvPr/>
        </p:nvGrpSpPr>
        <p:grpSpPr>
          <a:xfrm rot="0">
            <a:off x="3579876" y="4457700"/>
            <a:ext cx="2441448" cy="342900"/>
            <a:chOff x="0" y="0"/>
            <a:chExt cx="3255264" cy="457200"/>
          </a:xfrm>
        </p:grpSpPr>
        <p:sp>
          <p:nvSpPr>
            <p:cNvPr name="Freeform 61" id="61"/>
            <p:cNvSpPr/>
            <p:nvPr/>
          </p:nvSpPr>
          <p:spPr>
            <a:xfrm flipH="false" flipV="false" rot="0">
              <a:off x="0" y="0"/>
              <a:ext cx="3255264" cy="457200"/>
            </a:xfrm>
            <a:custGeom>
              <a:avLst/>
              <a:gdLst/>
              <a:ahLst/>
              <a:cxnLst/>
              <a:rect r="r" b="b" t="t" l="l"/>
              <a:pathLst>
                <a:path h="457200" w="3255264">
                  <a:moveTo>
                    <a:pt x="0" y="0"/>
                  </a:moveTo>
                  <a:lnTo>
                    <a:pt x="3255264" y="0"/>
                  </a:lnTo>
                  <a:lnTo>
                    <a:pt x="3255264" y="457200"/>
                  </a:lnTo>
                  <a:lnTo>
                    <a:pt x="0" y="457200"/>
                  </a:lnTo>
                  <a:close/>
                </a:path>
              </a:pathLst>
            </a:custGeom>
            <a:blipFill>
              <a:blip r:embed="rId3">
                <a:alphaModFix amt="0"/>
              </a:blip>
              <a:stretch>
                <a:fillRect l="0" t="-88733" r="0" b="-88733"/>
              </a:stretch>
            </a:blipFill>
          </p:spPr>
        </p:sp>
        <p:sp>
          <p:nvSpPr>
            <p:cNvPr name="TextBox 62" id="62"/>
            <p:cNvSpPr txBox="true"/>
            <p:nvPr/>
          </p:nvSpPr>
          <p:spPr>
            <a:xfrm>
              <a:off x="0" y="-19050"/>
              <a:ext cx="3255264" cy="476250"/>
            </a:xfrm>
            <a:prstGeom prst="rect">
              <a:avLst/>
            </a:prstGeom>
          </p:spPr>
          <p:txBody>
            <a:bodyPr anchor="ctr" rtlCol="false" tIns="0" lIns="0" bIns="0" rIns="0"/>
            <a:lstStyle/>
            <a:p>
              <a:pPr algn="ctr">
                <a:lnSpc>
                  <a:spcPts val="1620"/>
                </a:lnSpc>
              </a:pPr>
              <a:r>
                <a:rPr lang="en-US" sz="1350" b="true">
                  <a:solidFill>
                    <a:srgbClr val="FF6F3C"/>
                  </a:solidFill>
                  <a:latin typeface="Arial Bold"/>
                  <a:ea typeface="Arial Bold"/>
                  <a:cs typeface="Arial Bold"/>
                  <a:sym typeface="Arial Bold"/>
                </a:rPr>
                <a:t>2-MIN DELAY</a:t>
              </a:r>
            </a:p>
          </p:txBody>
        </p:sp>
      </p:grpSp>
      <p:grpSp>
        <p:nvGrpSpPr>
          <p:cNvPr name="Group 63" id="63"/>
          <p:cNvGrpSpPr/>
          <p:nvPr/>
        </p:nvGrpSpPr>
        <p:grpSpPr>
          <a:xfrm rot="0">
            <a:off x="822960" y="2647188"/>
            <a:ext cx="3991356" cy="342900"/>
            <a:chOff x="0" y="0"/>
            <a:chExt cx="5321808" cy="457200"/>
          </a:xfrm>
        </p:grpSpPr>
        <p:sp>
          <p:nvSpPr>
            <p:cNvPr name="Freeform 64" id="64"/>
            <p:cNvSpPr/>
            <p:nvPr/>
          </p:nvSpPr>
          <p:spPr>
            <a:xfrm flipH="false" flipV="false" rot="0">
              <a:off x="0" y="0"/>
              <a:ext cx="5321808" cy="457200"/>
            </a:xfrm>
            <a:custGeom>
              <a:avLst/>
              <a:gdLst/>
              <a:ahLst/>
              <a:cxnLst/>
              <a:rect r="r" b="b" t="t" l="l"/>
              <a:pathLst>
                <a:path h="457200" w="5321808">
                  <a:moveTo>
                    <a:pt x="0" y="0"/>
                  </a:moveTo>
                  <a:lnTo>
                    <a:pt x="5321808" y="0"/>
                  </a:lnTo>
                  <a:lnTo>
                    <a:pt x="5321808" y="457200"/>
                  </a:lnTo>
                  <a:lnTo>
                    <a:pt x="0" y="457200"/>
                  </a:lnTo>
                  <a:close/>
                </a:path>
              </a:pathLst>
            </a:custGeom>
            <a:blipFill>
              <a:blip r:embed="rId3">
                <a:alphaModFix amt="0"/>
              </a:blip>
              <a:stretch>
                <a:fillRect l="0" t="-176805" r="0" b="-176805"/>
              </a:stretch>
            </a:blipFill>
          </p:spPr>
        </p:sp>
        <p:sp>
          <p:nvSpPr>
            <p:cNvPr name="TextBox 65" id="65"/>
            <p:cNvSpPr txBox="true"/>
            <p:nvPr/>
          </p:nvSpPr>
          <p:spPr>
            <a:xfrm>
              <a:off x="0" y="-19050"/>
              <a:ext cx="5321808" cy="476250"/>
            </a:xfrm>
            <a:prstGeom prst="rect">
              <a:avLst/>
            </a:prstGeom>
          </p:spPr>
          <p:txBody>
            <a:bodyPr anchor="ctr" rtlCol="false" tIns="0" lIns="0" bIns="0" rIns="0"/>
            <a:lstStyle/>
            <a:p>
              <a:pPr algn="l">
                <a:lnSpc>
                  <a:spcPts val="1620"/>
                </a:lnSpc>
              </a:pPr>
              <a:r>
                <a:rPr lang="en-US" sz="1350">
                  <a:solidFill>
                    <a:srgbClr val="6B6B76"/>
                  </a:solidFill>
                  <a:latin typeface="Arial"/>
                  <a:ea typeface="Arial"/>
                  <a:cs typeface="Arial"/>
                  <a:sym typeface="Arial"/>
                </a:rPr>
                <a:t>cars queue behind →</a:t>
              </a:r>
            </a:p>
          </p:txBody>
        </p:sp>
      </p:grpSp>
      <p:grpSp>
        <p:nvGrpSpPr>
          <p:cNvPr name="Group 66" id="66"/>
          <p:cNvGrpSpPr/>
          <p:nvPr/>
        </p:nvGrpSpPr>
        <p:grpSpPr>
          <a:xfrm rot="0">
            <a:off x="6368796" y="4457700"/>
            <a:ext cx="7955280" cy="342900"/>
            <a:chOff x="0" y="0"/>
            <a:chExt cx="10607040" cy="457200"/>
          </a:xfrm>
        </p:grpSpPr>
        <p:sp>
          <p:nvSpPr>
            <p:cNvPr name="Freeform 67" id="67"/>
            <p:cNvSpPr/>
            <p:nvPr/>
          </p:nvSpPr>
          <p:spPr>
            <a:xfrm flipH="false" flipV="false" rot="0">
              <a:off x="0" y="0"/>
              <a:ext cx="10607040" cy="457200"/>
            </a:xfrm>
            <a:custGeom>
              <a:avLst/>
              <a:gdLst/>
              <a:ahLst/>
              <a:cxnLst/>
              <a:rect r="r" b="b" t="t" l="l"/>
              <a:pathLst>
                <a:path h="457200" w="10607040">
                  <a:moveTo>
                    <a:pt x="0" y="0"/>
                  </a:moveTo>
                  <a:lnTo>
                    <a:pt x="10607040" y="0"/>
                  </a:lnTo>
                  <a:lnTo>
                    <a:pt x="10607040" y="457200"/>
                  </a:lnTo>
                  <a:lnTo>
                    <a:pt x="0" y="457200"/>
                  </a:lnTo>
                  <a:close/>
                </a:path>
              </a:pathLst>
            </a:custGeom>
            <a:blipFill>
              <a:blip r:embed="rId3">
                <a:alphaModFix amt="0"/>
              </a:blip>
              <a:stretch>
                <a:fillRect l="0" t="-402052" r="0" b="-402052"/>
              </a:stretch>
            </a:blipFill>
          </p:spPr>
        </p:sp>
        <p:sp>
          <p:nvSpPr>
            <p:cNvPr name="TextBox 68" id="68"/>
            <p:cNvSpPr txBox="true"/>
            <p:nvPr/>
          </p:nvSpPr>
          <p:spPr>
            <a:xfrm>
              <a:off x="0" y="-19050"/>
              <a:ext cx="10607040" cy="476250"/>
            </a:xfrm>
            <a:prstGeom prst="rect">
              <a:avLst/>
            </a:prstGeom>
          </p:spPr>
          <p:txBody>
            <a:bodyPr anchor="ctr" rtlCol="false" tIns="0" lIns="0" bIns="0" rIns="0"/>
            <a:lstStyle/>
            <a:p>
              <a:pPr algn="l">
                <a:lnSpc>
                  <a:spcPts val="1620"/>
                </a:lnSpc>
              </a:pPr>
              <a:r>
                <a:rPr lang="en-US" sz="1350">
                  <a:solidFill>
                    <a:srgbClr val="6B6B76"/>
                  </a:solidFill>
                  <a:latin typeface="Arial"/>
                  <a:ea typeface="Arial"/>
                  <a:cs typeface="Arial"/>
                  <a:sym typeface="Arial"/>
                </a:rPr>
                <a:t>stations ahead idle</a:t>
              </a:r>
            </a:p>
          </p:txBody>
        </p:sp>
      </p:grpSp>
      <p:grpSp>
        <p:nvGrpSpPr>
          <p:cNvPr name="Group 69" id="69"/>
          <p:cNvGrpSpPr/>
          <p:nvPr/>
        </p:nvGrpSpPr>
        <p:grpSpPr>
          <a:xfrm rot="0">
            <a:off x="813435" y="4981575"/>
            <a:ext cx="7955280" cy="1920240"/>
            <a:chOff x="0" y="0"/>
            <a:chExt cx="10607040" cy="2560320"/>
          </a:xfrm>
        </p:grpSpPr>
        <p:sp>
          <p:nvSpPr>
            <p:cNvPr name="Freeform 70" id="70"/>
            <p:cNvSpPr/>
            <p:nvPr/>
          </p:nvSpPr>
          <p:spPr>
            <a:xfrm flipH="false" flipV="false" rot="0">
              <a:off x="0" y="0"/>
              <a:ext cx="10607040" cy="2560320"/>
            </a:xfrm>
            <a:custGeom>
              <a:avLst/>
              <a:gdLst/>
              <a:ahLst/>
              <a:cxnLst/>
              <a:rect r="r" b="b" t="t" l="l"/>
              <a:pathLst>
                <a:path h="2560320" w="10607040">
                  <a:moveTo>
                    <a:pt x="0" y="0"/>
                  </a:moveTo>
                  <a:lnTo>
                    <a:pt x="10607040" y="0"/>
                  </a:lnTo>
                  <a:lnTo>
                    <a:pt x="10607040" y="2560320"/>
                  </a:lnTo>
                  <a:lnTo>
                    <a:pt x="0" y="2560320"/>
                  </a:lnTo>
                  <a:close/>
                </a:path>
              </a:pathLst>
            </a:custGeom>
            <a:blipFill>
              <a:blip r:embed="rId3">
                <a:alphaModFix amt="0"/>
              </a:blip>
              <a:stretch>
                <a:fillRect l="0" t="-30723" r="0" b="-30723"/>
              </a:stretch>
            </a:blipFill>
          </p:spPr>
        </p:sp>
        <p:sp>
          <p:nvSpPr>
            <p:cNvPr name="TextBox 71" id="71"/>
            <p:cNvSpPr txBox="true"/>
            <p:nvPr/>
          </p:nvSpPr>
          <p:spPr>
            <a:xfrm>
              <a:off x="0" y="-76200"/>
              <a:ext cx="10607040" cy="2636520"/>
            </a:xfrm>
            <a:prstGeom prst="rect">
              <a:avLst/>
            </a:prstGeom>
          </p:spPr>
          <p:txBody>
            <a:bodyPr anchor="ctr" rtlCol="false" tIns="0" lIns="0" bIns="0" rIns="0"/>
            <a:lstStyle/>
            <a:p>
              <a:pPr algn="l">
                <a:lnSpc>
                  <a:spcPts val="2691"/>
                </a:lnSpc>
              </a:pPr>
              <a:r>
                <a:rPr lang="en-US" sz="1725">
                  <a:solidFill>
                    <a:srgbClr val="1E1E24"/>
                  </a:solidFill>
                  <a:latin typeface="Arial"/>
                  <a:ea typeface="Arial"/>
                  <a:cs typeface="Arial"/>
                  <a:sym typeface="Arial"/>
                </a:rPr>
                <a:t>Bottlenecks aren't fixed to one station. Published research on automotive assembly systems shows they migrate depending on product mix and demand so static, shift end reporting can't reliably anticipate them.</a:t>
              </a:r>
            </a:p>
          </p:txBody>
        </p:sp>
      </p:grpSp>
      <p:grpSp>
        <p:nvGrpSpPr>
          <p:cNvPr name="Group 72" id="72"/>
          <p:cNvGrpSpPr/>
          <p:nvPr/>
        </p:nvGrpSpPr>
        <p:grpSpPr>
          <a:xfrm rot="0">
            <a:off x="9395460" y="2647188"/>
            <a:ext cx="8065008" cy="2617501"/>
            <a:chOff x="0" y="0"/>
            <a:chExt cx="10753344" cy="3490001"/>
          </a:xfrm>
        </p:grpSpPr>
        <p:sp>
          <p:nvSpPr>
            <p:cNvPr name="Freeform 73" id="73"/>
            <p:cNvSpPr/>
            <p:nvPr/>
          </p:nvSpPr>
          <p:spPr>
            <a:xfrm flipH="false" flipV="false" rot="0">
              <a:off x="0" y="0"/>
              <a:ext cx="10753344" cy="3490001"/>
            </a:xfrm>
            <a:custGeom>
              <a:avLst/>
              <a:gdLst/>
              <a:ahLst/>
              <a:cxnLst/>
              <a:rect r="r" b="b" t="t" l="l"/>
              <a:pathLst>
                <a:path h="3490001" w="10753344">
                  <a:moveTo>
                    <a:pt x="0" y="0"/>
                  </a:moveTo>
                  <a:lnTo>
                    <a:pt x="10753344" y="0"/>
                  </a:lnTo>
                  <a:lnTo>
                    <a:pt x="10753344" y="3490001"/>
                  </a:lnTo>
                  <a:lnTo>
                    <a:pt x="0" y="3490001"/>
                  </a:lnTo>
                  <a:close/>
                </a:path>
              </a:pathLst>
            </a:custGeom>
            <a:blipFill>
              <a:blip r:embed="rId3">
                <a:alphaModFix amt="0"/>
              </a:blip>
              <a:stretch>
                <a:fillRect l="0" t="-14186" r="0" b="-5888"/>
              </a:stretch>
            </a:blipFill>
          </p:spPr>
        </p:sp>
        <p:sp>
          <p:nvSpPr>
            <p:cNvPr name="TextBox 74" id="74"/>
            <p:cNvSpPr txBox="true"/>
            <p:nvPr/>
          </p:nvSpPr>
          <p:spPr>
            <a:xfrm>
              <a:off x="0" y="-95250"/>
              <a:ext cx="10753344" cy="3585251"/>
            </a:xfrm>
            <a:prstGeom prst="rect">
              <a:avLst/>
            </a:prstGeom>
          </p:spPr>
          <p:txBody>
            <a:bodyPr anchor="ctr" rtlCol="false" tIns="0" lIns="0" bIns="0" rIns="0"/>
            <a:lstStyle/>
            <a:p>
              <a:pPr algn="l">
                <a:lnSpc>
                  <a:spcPts val="2925"/>
                </a:lnSpc>
              </a:pPr>
              <a:r>
                <a:rPr lang="en-US" sz="1875">
                  <a:solidFill>
                    <a:srgbClr val="1E1E24"/>
                  </a:solidFill>
                  <a:latin typeface="Arial"/>
                  <a:ea typeface="Arial"/>
                  <a:cs typeface="Arial"/>
                  <a:sym typeface="Arial"/>
                </a:rPr>
                <a:t>On a vehicle assembly line, work moves through dozens of stations at a fixed takt time (It is the target time each station should take to keep the whole line moving at the rate needed to meet demand.). </a:t>
              </a:r>
              <a:r>
                <a:rPr lang="en-US" sz="1875" b="true">
                  <a:solidFill>
                    <a:srgbClr val="4A148C"/>
                  </a:solidFill>
                  <a:latin typeface="Arial Bold"/>
                  <a:ea typeface="Arial Bold"/>
                  <a:cs typeface="Arial Bold"/>
                  <a:sym typeface="Arial Bold"/>
                </a:rPr>
                <a:t>When a station falls behind</a:t>
              </a:r>
              <a:r>
                <a:rPr lang="en-US" sz="1875">
                  <a:solidFill>
                    <a:srgbClr val="1E1E24"/>
                  </a:solidFill>
                  <a:latin typeface="Arial"/>
                  <a:ea typeface="Arial"/>
                  <a:cs typeface="Arial"/>
                  <a:sym typeface="Arial"/>
                </a:rPr>
                <a:t> a worn tool, a stuck fastener, a drifting process parameter vehicles queue up behind it while stations further down the line run out of work, and a fully stopped line can cost a plant tens of thousands of dollars a minute.</a:t>
              </a:r>
            </a:p>
          </p:txBody>
        </p:sp>
      </p:grpSp>
      <p:grpSp>
        <p:nvGrpSpPr>
          <p:cNvPr name="Group 75" id="75"/>
          <p:cNvGrpSpPr/>
          <p:nvPr/>
        </p:nvGrpSpPr>
        <p:grpSpPr>
          <a:xfrm rot="0">
            <a:off x="9395460" y="5349240"/>
            <a:ext cx="8065008" cy="2057400"/>
            <a:chOff x="0" y="0"/>
            <a:chExt cx="10753344" cy="2743200"/>
          </a:xfrm>
        </p:grpSpPr>
        <p:sp>
          <p:nvSpPr>
            <p:cNvPr name="Freeform 76" id="76"/>
            <p:cNvSpPr/>
            <p:nvPr/>
          </p:nvSpPr>
          <p:spPr>
            <a:xfrm flipH="false" flipV="false" rot="0">
              <a:off x="0" y="0"/>
              <a:ext cx="10753344" cy="2743200"/>
            </a:xfrm>
            <a:custGeom>
              <a:avLst/>
              <a:gdLst/>
              <a:ahLst/>
              <a:cxnLst/>
              <a:rect r="r" b="b" t="t" l="l"/>
              <a:pathLst>
                <a:path h="2743200" w="10753344">
                  <a:moveTo>
                    <a:pt x="0" y="0"/>
                  </a:moveTo>
                  <a:lnTo>
                    <a:pt x="10753344" y="0"/>
                  </a:lnTo>
                  <a:lnTo>
                    <a:pt x="10753344" y="2743200"/>
                  </a:lnTo>
                  <a:lnTo>
                    <a:pt x="0" y="2743200"/>
                  </a:lnTo>
                  <a:close/>
                </a:path>
              </a:pathLst>
            </a:custGeom>
            <a:blipFill>
              <a:blip r:embed="rId3">
                <a:alphaModFix amt="0"/>
              </a:blip>
              <a:stretch>
                <a:fillRect l="0" t="-26381" r="0" b="-26381"/>
              </a:stretch>
            </a:blipFill>
          </p:spPr>
        </p:sp>
        <p:sp>
          <p:nvSpPr>
            <p:cNvPr name="TextBox 77" id="77"/>
            <p:cNvSpPr txBox="true"/>
            <p:nvPr/>
          </p:nvSpPr>
          <p:spPr>
            <a:xfrm>
              <a:off x="0" y="-76200"/>
              <a:ext cx="10753344" cy="2819400"/>
            </a:xfrm>
            <a:prstGeom prst="rect">
              <a:avLst/>
            </a:prstGeom>
          </p:spPr>
          <p:txBody>
            <a:bodyPr anchor="ctr" rtlCol="false" tIns="0" lIns="0" bIns="0" rIns="0"/>
            <a:lstStyle/>
            <a:p>
              <a:pPr algn="l">
                <a:lnSpc>
                  <a:spcPts val="2764"/>
                </a:lnSpc>
              </a:pPr>
              <a:r>
                <a:rPr lang="en-US" sz="1800">
                  <a:solidFill>
                    <a:srgbClr val="1E1E24"/>
                  </a:solidFill>
                  <a:latin typeface="Arial"/>
                  <a:ea typeface="Arial"/>
                  <a:cs typeface="Arial"/>
                  <a:sym typeface="Arial"/>
                </a:rPr>
                <a:t>Quality problems compound the same way. </a:t>
              </a:r>
              <a:r>
                <a:rPr lang="en-US" sz="1800" b="true">
                  <a:solidFill>
                    <a:srgbClr val="4A148C"/>
                  </a:solidFill>
                  <a:latin typeface="Arial Bold"/>
                  <a:ea typeface="Arial Bold"/>
                  <a:cs typeface="Arial Bold"/>
                  <a:sym typeface="Arial Bold"/>
                </a:rPr>
                <a:t>The “1:10:100 rule” </a:t>
              </a:r>
              <a:r>
                <a:rPr lang="en-US" sz="1800">
                  <a:solidFill>
                    <a:srgbClr val="1E1E24"/>
                  </a:solidFill>
                  <a:latin typeface="Arial"/>
                  <a:ea typeface="Arial"/>
                  <a:cs typeface="Arial"/>
                  <a:sym typeface="Arial"/>
                </a:rPr>
                <a:t>a long standing quality principle  holds that a defect is roughly 10x costlier to fix at end of line than in process, and 100x costlier once it reaches the customer. Many stations, especially older ones, carry little digital instrumentation so the riskiest stations are often the least observed.</a:t>
              </a:r>
            </a:p>
          </p:txBody>
        </p:sp>
      </p:grpSp>
      <p:grpSp>
        <p:nvGrpSpPr>
          <p:cNvPr name="Group 78" id="78"/>
          <p:cNvGrpSpPr/>
          <p:nvPr/>
        </p:nvGrpSpPr>
        <p:grpSpPr>
          <a:xfrm rot="0">
            <a:off x="813435" y="7602855"/>
            <a:ext cx="5290566" cy="1870710"/>
            <a:chOff x="0" y="0"/>
            <a:chExt cx="7054088" cy="2494280"/>
          </a:xfrm>
        </p:grpSpPr>
        <p:sp>
          <p:nvSpPr>
            <p:cNvPr name="Freeform 79" id="79"/>
            <p:cNvSpPr/>
            <p:nvPr/>
          </p:nvSpPr>
          <p:spPr>
            <a:xfrm flipH="false" flipV="false" rot="0">
              <a:off x="0" y="0"/>
              <a:ext cx="7054088" cy="2494280"/>
            </a:xfrm>
            <a:custGeom>
              <a:avLst/>
              <a:gdLst/>
              <a:ahLst/>
              <a:cxnLst/>
              <a:rect r="r" b="b" t="t" l="l"/>
              <a:pathLst>
                <a:path h="2494280" w="7054088">
                  <a:moveTo>
                    <a:pt x="0" y="147828"/>
                  </a:moveTo>
                  <a:cubicBezTo>
                    <a:pt x="0" y="66167"/>
                    <a:pt x="66167" y="0"/>
                    <a:pt x="147828" y="0"/>
                  </a:cubicBezTo>
                  <a:lnTo>
                    <a:pt x="6906260" y="0"/>
                  </a:lnTo>
                  <a:cubicBezTo>
                    <a:pt x="6987921" y="0"/>
                    <a:pt x="7054088" y="66167"/>
                    <a:pt x="7054088" y="147828"/>
                  </a:cubicBezTo>
                  <a:lnTo>
                    <a:pt x="7054088" y="2346452"/>
                  </a:lnTo>
                  <a:cubicBezTo>
                    <a:pt x="7054088" y="2428113"/>
                    <a:pt x="6987921" y="2494280"/>
                    <a:pt x="6906260" y="2494280"/>
                  </a:cubicBezTo>
                  <a:lnTo>
                    <a:pt x="147828" y="2494280"/>
                  </a:lnTo>
                  <a:cubicBezTo>
                    <a:pt x="66167" y="2494280"/>
                    <a:pt x="0" y="2428113"/>
                    <a:pt x="0" y="2346452"/>
                  </a:cubicBezTo>
                  <a:close/>
                </a:path>
              </a:pathLst>
            </a:custGeom>
            <a:solidFill>
              <a:srgbClr val="FFFFFF"/>
            </a:solidFill>
            <a:ln w="19050" cap="sq">
              <a:solidFill>
                <a:srgbClr val="E3DCF0"/>
              </a:solidFill>
              <a:prstDash val="solid"/>
              <a:miter/>
            </a:ln>
          </p:spPr>
        </p:sp>
      </p:grpSp>
      <p:grpSp>
        <p:nvGrpSpPr>
          <p:cNvPr name="Group 80" id="80"/>
          <p:cNvGrpSpPr/>
          <p:nvPr/>
        </p:nvGrpSpPr>
        <p:grpSpPr>
          <a:xfrm rot="0">
            <a:off x="1165860" y="7804404"/>
            <a:ext cx="4585716" cy="833247"/>
            <a:chOff x="0" y="0"/>
            <a:chExt cx="6114288" cy="1110996"/>
          </a:xfrm>
        </p:grpSpPr>
        <p:sp>
          <p:nvSpPr>
            <p:cNvPr name="Freeform 81" id="81"/>
            <p:cNvSpPr/>
            <p:nvPr/>
          </p:nvSpPr>
          <p:spPr>
            <a:xfrm flipH="false" flipV="false" rot="0">
              <a:off x="0" y="0"/>
              <a:ext cx="6114288" cy="1110996"/>
            </a:xfrm>
            <a:custGeom>
              <a:avLst/>
              <a:gdLst/>
              <a:ahLst/>
              <a:cxnLst/>
              <a:rect r="r" b="b" t="t" l="l"/>
              <a:pathLst>
                <a:path h="1110996" w="6114288">
                  <a:moveTo>
                    <a:pt x="0" y="0"/>
                  </a:moveTo>
                  <a:lnTo>
                    <a:pt x="6114288" y="0"/>
                  </a:lnTo>
                  <a:lnTo>
                    <a:pt x="6114288" y="1110996"/>
                  </a:lnTo>
                  <a:lnTo>
                    <a:pt x="0" y="1110996"/>
                  </a:lnTo>
                  <a:close/>
                </a:path>
              </a:pathLst>
            </a:custGeom>
            <a:blipFill>
              <a:blip r:embed="rId3">
                <a:alphaModFix amt="0"/>
              </a:blip>
              <a:stretch>
                <a:fillRect l="0" t="-57234" r="0" b="-57234"/>
              </a:stretch>
            </a:blipFill>
          </p:spPr>
        </p:sp>
        <p:sp>
          <p:nvSpPr>
            <p:cNvPr name="TextBox 82" id="82"/>
            <p:cNvSpPr txBox="true"/>
            <p:nvPr/>
          </p:nvSpPr>
          <p:spPr>
            <a:xfrm>
              <a:off x="0" y="-19050"/>
              <a:ext cx="6114288" cy="1130046"/>
            </a:xfrm>
            <a:prstGeom prst="rect">
              <a:avLst/>
            </a:prstGeom>
          </p:spPr>
          <p:txBody>
            <a:bodyPr anchor="ctr" rtlCol="false" tIns="0" lIns="0" bIns="0" rIns="0"/>
            <a:lstStyle/>
            <a:p>
              <a:pPr algn="l">
                <a:lnSpc>
                  <a:spcPts val="4680"/>
                </a:lnSpc>
              </a:pPr>
              <a:r>
                <a:rPr lang="en-US" sz="3900" b="true">
                  <a:solidFill>
                    <a:srgbClr val="FF6F3C"/>
                  </a:solidFill>
                  <a:latin typeface="Arial Bold"/>
                  <a:ea typeface="Arial Bold"/>
                  <a:cs typeface="Arial Bold"/>
                  <a:sym typeface="Arial Bold"/>
                </a:rPr>
                <a:t>1 : 10 : 100</a:t>
              </a:r>
            </a:p>
          </p:txBody>
        </p:sp>
      </p:grpSp>
      <p:grpSp>
        <p:nvGrpSpPr>
          <p:cNvPr name="Group 83" id="83"/>
          <p:cNvGrpSpPr/>
          <p:nvPr/>
        </p:nvGrpSpPr>
        <p:grpSpPr>
          <a:xfrm rot="0">
            <a:off x="1165860" y="8613648"/>
            <a:ext cx="4585716" cy="754380"/>
            <a:chOff x="0" y="0"/>
            <a:chExt cx="6114288" cy="1005840"/>
          </a:xfrm>
        </p:grpSpPr>
        <p:sp>
          <p:nvSpPr>
            <p:cNvPr name="Freeform 84" id="84"/>
            <p:cNvSpPr/>
            <p:nvPr/>
          </p:nvSpPr>
          <p:spPr>
            <a:xfrm flipH="false" flipV="false" rot="0">
              <a:off x="0" y="0"/>
              <a:ext cx="6114288" cy="1005840"/>
            </a:xfrm>
            <a:custGeom>
              <a:avLst/>
              <a:gdLst/>
              <a:ahLst/>
              <a:cxnLst/>
              <a:rect r="r" b="b" t="t" l="l"/>
              <a:pathLst>
                <a:path h="1005840" w="6114288">
                  <a:moveTo>
                    <a:pt x="0" y="0"/>
                  </a:moveTo>
                  <a:lnTo>
                    <a:pt x="6114288" y="0"/>
                  </a:lnTo>
                  <a:lnTo>
                    <a:pt x="6114288" y="1005840"/>
                  </a:lnTo>
                  <a:lnTo>
                    <a:pt x="0" y="1005840"/>
                  </a:lnTo>
                  <a:close/>
                </a:path>
              </a:pathLst>
            </a:custGeom>
            <a:blipFill>
              <a:blip r:embed="rId3">
                <a:alphaModFix amt="0"/>
              </a:blip>
              <a:stretch>
                <a:fillRect l="0" t="-68445" r="0" b="-68445"/>
              </a:stretch>
            </a:blipFill>
          </p:spPr>
        </p:sp>
        <p:sp>
          <p:nvSpPr>
            <p:cNvPr name="TextBox 85" id="85"/>
            <p:cNvSpPr txBox="true"/>
            <p:nvPr/>
          </p:nvSpPr>
          <p:spPr>
            <a:xfrm>
              <a:off x="0" y="-47625"/>
              <a:ext cx="6114288" cy="1053465"/>
            </a:xfrm>
            <a:prstGeom prst="rect">
              <a:avLst/>
            </a:prstGeom>
          </p:spPr>
          <p:txBody>
            <a:bodyPr anchor="ctr" rtlCol="false" tIns="0" lIns="0" bIns="0" rIns="0"/>
            <a:lstStyle/>
            <a:p>
              <a:pPr algn="l">
                <a:lnSpc>
                  <a:spcPts val="2160"/>
                </a:lnSpc>
              </a:pPr>
              <a:r>
                <a:rPr lang="en-US" sz="1500">
                  <a:solidFill>
                    <a:srgbClr val="6B6B76"/>
                  </a:solidFill>
                  <a:latin typeface="Arial"/>
                  <a:ea typeface="Arial"/>
                  <a:cs typeface="Arial"/>
                  <a:sym typeface="Arial"/>
                </a:rPr>
                <a:t>Relative cost to fix a defect in process vs. at end of line vs. after it reaches the customer</a:t>
              </a:r>
            </a:p>
          </p:txBody>
        </p:sp>
      </p:grpSp>
      <p:grpSp>
        <p:nvGrpSpPr>
          <p:cNvPr name="Group 86" id="86"/>
          <p:cNvGrpSpPr/>
          <p:nvPr/>
        </p:nvGrpSpPr>
        <p:grpSpPr>
          <a:xfrm rot="0">
            <a:off x="6496431" y="7602855"/>
            <a:ext cx="5290566" cy="1870710"/>
            <a:chOff x="0" y="0"/>
            <a:chExt cx="7054088" cy="2494280"/>
          </a:xfrm>
        </p:grpSpPr>
        <p:sp>
          <p:nvSpPr>
            <p:cNvPr name="Freeform 87" id="87"/>
            <p:cNvSpPr/>
            <p:nvPr/>
          </p:nvSpPr>
          <p:spPr>
            <a:xfrm flipH="false" flipV="false" rot="0">
              <a:off x="0" y="0"/>
              <a:ext cx="7054088" cy="2494280"/>
            </a:xfrm>
            <a:custGeom>
              <a:avLst/>
              <a:gdLst/>
              <a:ahLst/>
              <a:cxnLst/>
              <a:rect r="r" b="b" t="t" l="l"/>
              <a:pathLst>
                <a:path h="2494280" w="7054088">
                  <a:moveTo>
                    <a:pt x="0" y="147828"/>
                  </a:moveTo>
                  <a:cubicBezTo>
                    <a:pt x="0" y="66167"/>
                    <a:pt x="66167" y="0"/>
                    <a:pt x="147828" y="0"/>
                  </a:cubicBezTo>
                  <a:lnTo>
                    <a:pt x="6906260" y="0"/>
                  </a:lnTo>
                  <a:cubicBezTo>
                    <a:pt x="6987921" y="0"/>
                    <a:pt x="7054088" y="66167"/>
                    <a:pt x="7054088" y="147828"/>
                  </a:cubicBezTo>
                  <a:lnTo>
                    <a:pt x="7054088" y="2346452"/>
                  </a:lnTo>
                  <a:cubicBezTo>
                    <a:pt x="7054088" y="2428113"/>
                    <a:pt x="6987921" y="2494280"/>
                    <a:pt x="6906260" y="2494280"/>
                  </a:cubicBezTo>
                  <a:lnTo>
                    <a:pt x="147828" y="2494280"/>
                  </a:lnTo>
                  <a:cubicBezTo>
                    <a:pt x="66167" y="2494280"/>
                    <a:pt x="0" y="2428113"/>
                    <a:pt x="0" y="2346452"/>
                  </a:cubicBezTo>
                  <a:close/>
                </a:path>
              </a:pathLst>
            </a:custGeom>
            <a:solidFill>
              <a:srgbClr val="FFFFFF"/>
            </a:solidFill>
            <a:ln w="19050" cap="sq">
              <a:solidFill>
                <a:srgbClr val="E3DCF0"/>
              </a:solidFill>
              <a:prstDash val="solid"/>
              <a:miter/>
            </a:ln>
          </p:spPr>
        </p:sp>
      </p:grpSp>
      <p:grpSp>
        <p:nvGrpSpPr>
          <p:cNvPr name="Group 88" id="88"/>
          <p:cNvGrpSpPr/>
          <p:nvPr/>
        </p:nvGrpSpPr>
        <p:grpSpPr>
          <a:xfrm rot="0">
            <a:off x="6848856" y="7804404"/>
            <a:ext cx="4585716" cy="833247"/>
            <a:chOff x="0" y="0"/>
            <a:chExt cx="6114288" cy="1110996"/>
          </a:xfrm>
        </p:grpSpPr>
        <p:sp>
          <p:nvSpPr>
            <p:cNvPr name="Freeform 89" id="89"/>
            <p:cNvSpPr/>
            <p:nvPr/>
          </p:nvSpPr>
          <p:spPr>
            <a:xfrm flipH="false" flipV="false" rot="0">
              <a:off x="0" y="0"/>
              <a:ext cx="6114288" cy="1110996"/>
            </a:xfrm>
            <a:custGeom>
              <a:avLst/>
              <a:gdLst/>
              <a:ahLst/>
              <a:cxnLst/>
              <a:rect r="r" b="b" t="t" l="l"/>
              <a:pathLst>
                <a:path h="1110996" w="6114288">
                  <a:moveTo>
                    <a:pt x="0" y="0"/>
                  </a:moveTo>
                  <a:lnTo>
                    <a:pt x="6114288" y="0"/>
                  </a:lnTo>
                  <a:lnTo>
                    <a:pt x="6114288" y="1110996"/>
                  </a:lnTo>
                  <a:lnTo>
                    <a:pt x="0" y="1110996"/>
                  </a:lnTo>
                  <a:close/>
                </a:path>
              </a:pathLst>
            </a:custGeom>
            <a:blipFill>
              <a:blip r:embed="rId3">
                <a:alphaModFix amt="0"/>
              </a:blip>
              <a:stretch>
                <a:fillRect l="0" t="-57234" r="0" b="-57234"/>
              </a:stretch>
            </a:blipFill>
          </p:spPr>
        </p:sp>
        <p:sp>
          <p:nvSpPr>
            <p:cNvPr name="TextBox 90" id="90"/>
            <p:cNvSpPr txBox="true"/>
            <p:nvPr/>
          </p:nvSpPr>
          <p:spPr>
            <a:xfrm>
              <a:off x="0" y="-19050"/>
              <a:ext cx="6114288" cy="1130046"/>
            </a:xfrm>
            <a:prstGeom prst="rect">
              <a:avLst/>
            </a:prstGeom>
          </p:spPr>
          <p:txBody>
            <a:bodyPr anchor="ctr" rtlCol="false" tIns="0" lIns="0" bIns="0" rIns="0"/>
            <a:lstStyle/>
            <a:p>
              <a:pPr algn="l">
                <a:lnSpc>
                  <a:spcPts val="4680"/>
                </a:lnSpc>
              </a:pPr>
              <a:r>
                <a:rPr lang="en-US" sz="3900" b="true">
                  <a:solidFill>
                    <a:srgbClr val="FF6F3C"/>
                  </a:solidFill>
                  <a:latin typeface="Arial Bold"/>
                  <a:ea typeface="Arial Bold"/>
                  <a:cs typeface="Arial Bold"/>
                  <a:sym typeface="Arial Bold"/>
                </a:rPr>
                <a:t>30%+</a:t>
              </a:r>
            </a:p>
          </p:txBody>
        </p:sp>
      </p:grpSp>
      <p:grpSp>
        <p:nvGrpSpPr>
          <p:cNvPr name="Group 91" id="91"/>
          <p:cNvGrpSpPr/>
          <p:nvPr/>
        </p:nvGrpSpPr>
        <p:grpSpPr>
          <a:xfrm rot="0">
            <a:off x="6848856" y="8613648"/>
            <a:ext cx="4585716" cy="754380"/>
            <a:chOff x="0" y="0"/>
            <a:chExt cx="6114288" cy="1005840"/>
          </a:xfrm>
        </p:grpSpPr>
        <p:sp>
          <p:nvSpPr>
            <p:cNvPr name="Freeform 92" id="92"/>
            <p:cNvSpPr/>
            <p:nvPr/>
          </p:nvSpPr>
          <p:spPr>
            <a:xfrm flipH="false" flipV="false" rot="0">
              <a:off x="0" y="0"/>
              <a:ext cx="6114288" cy="1005840"/>
            </a:xfrm>
            <a:custGeom>
              <a:avLst/>
              <a:gdLst/>
              <a:ahLst/>
              <a:cxnLst/>
              <a:rect r="r" b="b" t="t" l="l"/>
              <a:pathLst>
                <a:path h="1005840" w="6114288">
                  <a:moveTo>
                    <a:pt x="0" y="0"/>
                  </a:moveTo>
                  <a:lnTo>
                    <a:pt x="6114288" y="0"/>
                  </a:lnTo>
                  <a:lnTo>
                    <a:pt x="6114288" y="1005840"/>
                  </a:lnTo>
                  <a:lnTo>
                    <a:pt x="0" y="1005840"/>
                  </a:lnTo>
                  <a:close/>
                </a:path>
              </a:pathLst>
            </a:custGeom>
            <a:blipFill>
              <a:blip r:embed="rId3">
                <a:alphaModFix amt="0"/>
              </a:blip>
              <a:stretch>
                <a:fillRect l="0" t="-68445" r="0" b="-68445"/>
              </a:stretch>
            </a:blipFill>
          </p:spPr>
        </p:sp>
        <p:sp>
          <p:nvSpPr>
            <p:cNvPr name="TextBox 93" id="93"/>
            <p:cNvSpPr txBox="true"/>
            <p:nvPr/>
          </p:nvSpPr>
          <p:spPr>
            <a:xfrm>
              <a:off x="0" y="-47625"/>
              <a:ext cx="6114288" cy="1053465"/>
            </a:xfrm>
            <a:prstGeom prst="rect">
              <a:avLst/>
            </a:prstGeom>
          </p:spPr>
          <p:txBody>
            <a:bodyPr anchor="ctr" rtlCol="false" tIns="0" lIns="0" bIns="0" rIns="0"/>
            <a:lstStyle/>
            <a:p>
              <a:pPr algn="l">
                <a:lnSpc>
                  <a:spcPts val="2160"/>
                </a:lnSpc>
              </a:pPr>
              <a:r>
                <a:rPr lang="en-US" sz="1500">
                  <a:solidFill>
                    <a:srgbClr val="6B6B76"/>
                  </a:solidFill>
                  <a:latin typeface="Arial"/>
                  <a:ea typeface="Arial"/>
                  <a:cs typeface="Arial"/>
                  <a:sym typeface="Arial"/>
                </a:rPr>
                <a:t>OEE improvement from real time bottleneck detection in a year long automotive powertrain pilot</a:t>
              </a:r>
            </a:p>
          </p:txBody>
        </p:sp>
      </p:grpSp>
      <p:grpSp>
        <p:nvGrpSpPr>
          <p:cNvPr name="Group 94" id="94"/>
          <p:cNvGrpSpPr/>
          <p:nvPr/>
        </p:nvGrpSpPr>
        <p:grpSpPr>
          <a:xfrm rot="0">
            <a:off x="12179427" y="7602855"/>
            <a:ext cx="5290566" cy="1870710"/>
            <a:chOff x="0" y="0"/>
            <a:chExt cx="7054088" cy="2494280"/>
          </a:xfrm>
        </p:grpSpPr>
        <p:sp>
          <p:nvSpPr>
            <p:cNvPr name="Freeform 95" id="95"/>
            <p:cNvSpPr/>
            <p:nvPr/>
          </p:nvSpPr>
          <p:spPr>
            <a:xfrm flipH="false" flipV="false" rot="0">
              <a:off x="0" y="0"/>
              <a:ext cx="7054088" cy="2494280"/>
            </a:xfrm>
            <a:custGeom>
              <a:avLst/>
              <a:gdLst/>
              <a:ahLst/>
              <a:cxnLst/>
              <a:rect r="r" b="b" t="t" l="l"/>
              <a:pathLst>
                <a:path h="2494280" w="7054088">
                  <a:moveTo>
                    <a:pt x="0" y="147828"/>
                  </a:moveTo>
                  <a:cubicBezTo>
                    <a:pt x="0" y="66167"/>
                    <a:pt x="66167" y="0"/>
                    <a:pt x="147828" y="0"/>
                  </a:cubicBezTo>
                  <a:lnTo>
                    <a:pt x="6906260" y="0"/>
                  </a:lnTo>
                  <a:cubicBezTo>
                    <a:pt x="6987921" y="0"/>
                    <a:pt x="7054088" y="66167"/>
                    <a:pt x="7054088" y="147828"/>
                  </a:cubicBezTo>
                  <a:lnTo>
                    <a:pt x="7054088" y="2346452"/>
                  </a:lnTo>
                  <a:cubicBezTo>
                    <a:pt x="7054088" y="2428113"/>
                    <a:pt x="6987921" y="2494280"/>
                    <a:pt x="6906260" y="2494280"/>
                  </a:cubicBezTo>
                  <a:lnTo>
                    <a:pt x="147828" y="2494280"/>
                  </a:lnTo>
                  <a:cubicBezTo>
                    <a:pt x="66167" y="2494280"/>
                    <a:pt x="0" y="2428113"/>
                    <a:pt x="0" y="2346452"/>
                  </a:cubicBezTo>
                  <a:close/>
                </a:path>
              </a:pathLst>
            </a:custGeom>
            <a:solidFill>
              <a:srgbClr val="FFFFFF"/>
            </a:solidFill>
            <a:ln w="19050" cap="sq">
              <a:solidFill>
                <a:srgbClr val="E3DCF0"/>
              </a:solidFill>
              <a:prstDash val="solid"/>
              <a:miter/>
            </a:ln>
          </p:spPr>
        </p:sp>
      </p:grpSp>
      <p:grpSp>
        <p:nvGrpSpPr>
          <p:cNvPr name="Group 96" id="96"/>
          <p:cNvGrpSpPr/>
          <p:nvPr/>
        </p:nvGrpSpPr>
        <p:grpSpPr>
          <a:xfrm rot="0">
            <a:off x="12531852" y="7804404"/>
            <a:ext cx="4585716" cy="833247"/>
            <a:chOff x="0" y="0"/>
            <a:chExt cx="6114288" cy="1110996"/>
          </a:xfrm>
        </p:grpSpPr>
        <p:sp>
          <p:nvSpPr>
            <p:cNvPr name="Freeform 97" id="97"/>
            <p:cNvSpPr/>
            <p:nvPr/>
          </p:nvSpPr>
          <p:spPr>
            <a:xfrm flipH="false" flipV="false" rot="0">
              <a:off x="0" y="0"/>
              <a:ext cx="6114288" cy="1110996"/>
            </a:xfrm>
            <a:custGeom>
              <a:avLst/>
              <a:gdLst/>
              <a:ahLst/>
              <a:cxnLst/>
              <a:rect r="r" b="b" t="t" l="l"/>
              <a:pathLst>
                <a:path h="1110996" w="6114288">
                  <a:moveTo>
                    <a:pt x="0" y="0"/>
                  </a:moveTo>
                  <a:lnTo>
                    <a:pt x="6114288" y="0"/>
                  </a:lnTo>
                  <a:lnTo>
                    <a:pt x="6114288" y="1110996"/>
                  </a:lnTo>
                  <a:lnTo>
                    <a:pt x="0" y="1110996"/>
                  </a:lnTo>
                  <a:close/>
                </a:path>
              </a:pathLst>
            </a:custGeom>
            <a:blipFill>
              <a:blip r:embed="rId3">
                <a:alphaModFix amt="0"/>
              </a:blip>
              <a:stretch>
                <a:fillRect l="0" t="-57234" r="0" b="-57234"/>
              </a:stretch>
            </a:blipFill>
          </p:spPr>
        </p:sp>
        <p:sp>
          <p:nvSpPr>
            <p:cNvPr name="TextBox 98" id="98"/>
            <p:cNvSpPr txBox="true"/>
            <p:nvPr/>
          </p:nvSpPr>
          <p:spPr>
            <a:xfrm>
              <a:off x="0" y="-19050"/>
              <a:ext cx="6114288" cy="1130046"/>
            </a:xfrm>
            <a:prstGeom prst="rect">
              <a:avLst/>
            </a:prstGeom>
          </p:spPr>
          <p:txBody>
            <a:bodyPr anchor="ctr" rtlCol="false" tIns="0" lIns="0" bIns="0" rIns="0"/>
            <a:lstStyle/>
            <a:p>
              <a:pPr algn="l">
                <a:lnSpc>
                  <a:spcPts val="4680"/>
                </a:lnSpc>
              </a:pPr>
              <a:r>
                <a:rPr lang="en-US" sz="3900" b="true">
                  <a:solidFill>
                    <a:srgbClr val="FF6F3C"/>
                  </a:solidFill>
                  <a:latin typeface="Arial Bold"/>
                  <a:ea typeface="Arial Bold"/>
                  <a:cs typeface="Arial Bold"/>
                  <a:sym typeface="Arial Bold"/>
                </a:rPr>
                <a:t>Dynamic</a:t>
              </a:r>
            </a:p>
          </p:txBody>
        </p:sp>
      </p:grpSp>
      <p:grpSp>
        <p:nvGrpSpPr>
          <p:cNvPr name="Group 99" id="99"/>
          <p:cNvGrpSpPr/>
          <p:nvPr/>
        </p:nvGrpSpPr>
        <p:grpSpPr>
          <a:xfrm rot="0">
            <a:off x="12531852" y="8613648"/>
            <a:ext cx="4585716" cy="754380"/>
            <a:chOff x="0" y="0"/>
            <a:chExt cx="6114288" cy="1005840"/>
          </a:xfrm>
        </p:grpSpPr>
        <p:sp>
          <p:nvSpPr>
            <p:cNvPr name="Freeform 100" id="100"/>
            <p:cNvSpPr/>
            <p:nvPr/>
          </p:nvSpPr>
          <p:spPr>
            <a:xfrm flipH="false" flipV="false" rot="0">
              <a:off x="0" y="0"/>
              <a:ext cx="6114288" cy="1005840"/>
            </a:xfrm>
            <a:custGeom>
              <a:avLst/>
              <a:gdLst/>
              <a:ahLst/>
              <a:cxnLst/>
              <a:rect r="r" b="b" t="t" l="l"/>
              <a:pathLst>
                <a:path h="1005840" w="6114288">
                  <a:moveTo>
                    <a:pt x="0" y="0"/>
                  </a:moveTo>
                  <a:lnTo>
                    <a:pt x="6114288" y="0"/>
                  </a:lnTo>
                  <a:lnTo>
                    <a:pt x="6114288" y="1005840"/>
                  </a:lnTo>
                  <a:lnTo>
                    <a:pt x="0" y="1005840"/>
                  </a:lnTo>
                  <a:close/>
                </a:path>
              </a:pathLst>
            </a:custGeom>
            <a:blipFill>
              <a:blip r:embed="rId3">
                <a:alphaModFix amt="0"/>
              </a:blip>
              <a:stretch>
                <a:fillRect l="0" t="-68445" r="0" b="-68445"/>
              </a:stretch>
            </a:blipFill>
          </p:spPr>
        </p:sp>
        <p:sp>
          <p:nvSpPr>
            <p:cNvPr name="TextBox 101" id="101"/>
            <p:cNvSpPr txBox="true"/>
            <p:nvPr/>
          </p:nvSpPr>
          <p:spPr>
            <a:xfrm>
              <a:off x="0" y="-47625"/>
              <a:ext cx="6114288" cy="1053465"/>
            </a:xfrm>
            <a:prstGeom prst="rect">
              <a:avLst/>
            </a:prstGeom>
          </p:spPr>
          <p:txBody>
            <a:bodyPr anchor="ctr" rtlCol="false" tIns="0" lIns="0" bIns="0" rIns="0"/>
            <a:lstStyle/>
            <a:p>
              <a:pPr algn="l">
                <a:lnSpc>
                  <a:spcPts val="2160"/>
                </a:lnSpc>
              </a:pPr>
              <a:r>
                <a:rPr lang="en-US" sz="1500">
                  <a:solidFill>
                    <a:srgbClr val="6B6B76"/>
                  </a:solidFill>
                  <a:latin typeface="Arial"/>
                  <a:ea typeface="Arial"/>
                  <a:cs typeface="Arial"/>
                  <a:sym typeface="Arial"/>
                </a:rPr>
                <a:t>Bottlenecks shift station to station with product mix - static reports can't track them</a:t>
              </a:r>
            </a:p>
          </p:txBody>
        </p:sp>
      </p:grpSp>
      <p:grpSp>
        <p:nvGrpSpPr>
          <p:cNvPr name="Group 102" id="102"/>
          <p:cNvGrpSpPr/>
          <p:nvPr/>
        </p:nvGrpSpPr>
        <p:grpSpPr>
          <a:xfrm rot="0">
            <a:off x="822960" y="9738360"/>
            <a:ext cx="16637508" cy="438912"/>
            <a:chOff x="0" y="0"/>
            <a:chExt cx="22183344" cy="585216"/>
          </a:xfrm>
        </p:grpSpPr>
        <p:sp>
          <p:nvSpPr>
            <p:cNvPr name="Freeform 103" id="103"/>
            <p:cNvSpPr/>
            <p:nvPr/>
          </p:nvSpPr>
          <p:spPr>
            <a:xfrm flipH="false" flipV="false" rot="0">
              <a:off x="0" y="0"/>
              <a:ext cx="22183344" cy="585216"/>
            </a:xfrm>
            <a:custGeom>
              <a:avLst/>
              <a:gdLst/>
              <a:ahLst/>
              <a:cxnLst/>
              <a:rect r="r" b="b" t="t" l="l"/>
              <a:pathLst>
                <a:path h="585216" w="22183344">
                  <a:moveTo>
                    <a:pt x="0" y="0"/>
                  </a:moveTo>
                  <a:lnTo>
                    <a:pt x="22183344" y="0"/>
                  </a:lnTo>
                  <a:lnTo>
                    <a:pt x="22183344" y="585216"/>
                  </a:lnTo>
                  <a:lnTo>
                    <a:pt x="0" y="585216"/>
                  </a:lnTo>
                  <a:close/>
                </a:path>
              </a:pathLst>
            </a:custGeom>
            <a:blipFill>
              <a:blip r:embed="rId3">
                <a:alphaModFix amt="0"/>
              </a:blip>
              <a:stretch>
                <a:fillRect l="0" t="-688604" r="0" b="-688604"/>
              </a:stretch>
            </a:blipFill>
          </p:spPr>
        </p:sp>
        <p:sp>
          <p:nvSpPr>
            <p:cNvPr name="TextBox 104" id="104"/>
            <p:cNvSpPr txBox="true"/>
            <p:nvPr/>
          </p:nvSpPr>
          <p:spPr>
            <a:xfrm>
              <a:off x="0" y="-19050"/>
              <a:ext cx="22183344" cy="604266"/>
            </a:xfrm>
            <a:prstGeom prst="rect">
              <a:avLst/>
            </a:prstGeom>
          </p:spPr>
          <p:txBody>
            <a:bodyPr anchor="ctr" rtlCol="false" tIns="0" lIns="0" bIns="0" rIns="0"/>
            <a:lstStyle/>
            <a:p>
              <a:pPr algn="l">
                <a:lnSpc>
                  <a:spcPts val="1530"/>
                </a:lnSpc>
              </a:pPr>
              <a:r>
                <a:rPr lang="en-US" sz="1275" i="true" u="sng">
                  <a:solidFill>
                    <a:srgbClr val="6B6B76"/>
                  </a:solidFill>
                  <a:latin typeface="Arial Italics"/>
                  <a:ea typeface="Arial Italics"/>
                  <a:cs typeface="Arial Italics"/>
                  <a:sym typeface="Arial Italics"/>
                  <a:hlinkClick r:id="rId4" tooltip="https://ieeexplore.ieee.org/document/10449281"/>
                </a:rPr>
                <a:t>Sources: Zhang, X. et al. (2023), “A digital twin-based method for production system performance prediction”, ResearchGate  •  1:10:100 rule, established quality-management principle (QCAdvisor, Invensis Learning)</a:t>
              </a:r>
            </a:p>
          </p:txBody>
        </p:sp>
      </p:grpSp>
      <p:pic>
        <p:nvPicPr>
          <p:cNvPr name="Picture 105" id="105"/>
          <p:cNvPicPr>
            <a:picLocks noChangeAspect="true"/>
          </p:cNvPicPr>
          <p:nvPr/>
        </p:nvPicPr>
        <p:blipFill>
          <a:blip r:embed="rId5"/>
          <a:stretch>
            <a:fillRect/>
          </a:stretch>
        </p:blipFill>
        <p:spPr>
          <a:xfrm rot="0">
            <a:off x="5478246" y="4484578"/>
            <a:ext cx="682642" cy="289144"/>
          </a:xfrm>
          <a:prstGeom prst="rect">
            <a:avLst/>
          </a:prstGeom>
        </p:spPr>
      </p:pic>
      <p:grpSp>
        <p:nvGrpSpPr>
          <p:cNvPr name="Group 106" id="106"/>
          <p:cNvGrpSpPr/>
          <p:nvPr/>
        </p:nvGrpSpPr>
        <p:grpSpPr>
          <a:xfrm rot="0">
            <a:off x="836676" y="6536722"/>
            <a:ext cx="7955280" cy="1022414"/>
            <a:chOff x="0" y="0"/>
            <a:chExt cx="19487461" cy="2504531"/>
          </a:xfrm>
        </p:grpSpPr>
        <p:sp>
          <p:nvSpPr>
            <p:cNvPr name="Freeform 107" id="107"/>
            <p:cNvSpPr/>
            <p:nvPr/>
          </p:nvSpPr>
          <p:spPr>
            <a:xfrm flipH="false" flipV="false" rot="0">
              <a:off x="0" y="0"/>
              <a:ext cx="19487462" cy="2504531"/>
            </a:xfrm>
            <a:custGeom>
              <a:avLst/>
              <a:gdLst/>
              <a:ahLst/>
              <a:cxnLst/>
              <a:rect r="r" b="b" t="t" l="l"/>
              <a:pathLst>
                <a:path h="2504531" w="19487462">
                  <a:moveTo>
                    <a:pt x="0" y="0"/>
                  </a:moveTo>
                  <a:lnTo>
                    <a:pt x="19487462" y="0"/>
                  </a:lnTo>
                  <a:lnTo>
                    <a:pt x="19487462" y="2504531"/>
                  </a:lnTo>
                  <a:lnTo>
                    <a:pt x="0" y="2504531"/>
                  </a:lnTo>
                  <a:close/>
                </a:path>
              </a:pathLst>
            </a:custGeom>
            <a:blipFill>
              <a:blip r:embed="rId3">
                <a:alphaModFix amt="0"/>
              </a:blip>
              <a:stretch>
                <a:fillRect l="0" t="-31408" r="45569" b="-33635"/>
              </a:stretch>
            </a:blipFill>
          </p:spPr>
        </p:sp>
        <p:sp>
          <p:nvSpPr>
            <p:cNvPr name="TextBox 108" id="108"/>
            <p:cNvSpPr txBox="true"/>
            <p:nvPr/>
          </p:nvSpPr>
          <p:spPr>
            <a:xfrm>
              <a:off x="0" y="-76200"/>
              <a:ext cx="19487461" cy="2580731"/>
            </a:xfrm>
            <a:prstGeom prst="rect">
              <a:avLst/>
            </a:prstGeom>
          </p:spPr>
          <p:txBody>
            <a:bodyPr anchor="ctr" rtlCol="false" tIns="0" lIns="0" bIns="0" rIns="0"/>
            <a:lstStyle/>
            <a:p>
              <a:pPr algn="l">
                <a:lnSpc>
                  <a:spcPts val="2691"/>
                </a:lnSpc>
              </a:pPr>
              <a:r>
                <a:rPr lang="en-US" sz="1725" b="true">
                  <a:solidFill>
                    <a:srgbClr val="1E1E24"/>
                  </a:solidFill>
                  <a:latin typeface="Arial Bold"/>
                  <a:ea typeface="Arial Bold"/>
                  <a:cs typeface="Arial Bold"/>
                  <a:sym typeface="Arial Bold"/>
                </a:rPr>
                <a:t>Overall Equipment Effectiveness = Availability × Performance × Quality, expressed as a percentage.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438912"/>
            <a:ext cx="5545836" cy="493776"/>
            <a:chOff x="0" y="0"/>
            <a:chExt cx="7394448" cy="658368"/>
          </a:xfrm>
        </p:grpSpPr>
        <p:sp>
          <p:nvSpPr>
            <p:cNvPr name="Freeform 3" id="3"/>
            <p:cNvSpPr/>
            <p:nvPr/>
          </p:nvSpPr>
          <p:spPr>
            <a:xfrm flipH="false" flipV="false" rot="0">
              <a:off x="0" y="0"/>
              <a:ext cx="7394448" cy="658368"/>
            </a:xfrm>
            <a:custGeom>
              <a:avLst/>
              <a:gdLst/>
              <a:ahLst/>
              <a:cxnLst/>
              <a:rect r="r" b="b" t="t" l="l"/>
              <a:pathLst>
                <a:path h="658368" w="7394448">
                  <a:moveTo>
                    <a:pt x="0" y="0"/>
                  </a:moveTo>
                  <a:lnTo>
                    <a:pt x="7394448" y="0"/>
                  </a:lnTo>
                  <a:lnTo>
                    <a:pt x="7394448" y="658368"/>
                  </a:lnTo>
                  <a:lnTo>
                    <a:pt x="0" y="658368"/>
                  </a:lnTo>
                  <a:close/>
                </a:path>
              </a:pathLst>
            </a:custGeom>
            <a:blipFill>
              <a:blip r:embed="rId3">
                <a:alphaModFix amt="0"/>
              </a:blip>
              <a:stretch>
                <a:fillRect l="0" t="-168845" r="0" b="-168845"/>
              </a:stretch>
            </a:blipFill>
          </p:spPr>
        </p:sp>
        <p:sp>
          <p:nvSpPr>
            <p:cNvPr name="TextBox 4" id="4"/>
            <p:cNvSpPr txBox="true"/>
            <p:nvPr/>
          </p:nvSpPr>
          <p:spPr>
            <a:xfrm>
              <a:off x="0" y="-28575"/>
              <a:ext cx="7394448" cy="686943"/>
            </a:xfrm>
            <a:prstGeom prst="rect">
              <a:avLst/>
            </a:prstGeom>
          </p:spPr>
          <p:txBody>
            <a:bodyPr anchor="ctr" rtlCol="false" tIns="0" lIns="0" bIns="0" rIns="0"/>
            <a:lstStyle/>
            <a:p>
              <a:pPr algn="ctr">
                <a:lnSpc>
                  <a:spcPts val="2250"/>
                </a:lnSpc>
              </a:pPr>
              <a:r>
                <a:rPr lang="en-US" sz="1875">
                  <a:solidFill>
                    <a:srgbClr val="A8A8B2"/>
                  </a:solidFill>
                  <a:latin typeface="Arial"/>
                  <a:ea typeface="Arial"/>
                  <a:cs typeface="Arial"/>
                  <a:sym typeface="Arial"/>
                </a:rPr>
                <a:t>Problem Analysis</a:t>
              </a:r>
            </a:p>
          </p:txBody>
        </p:sp>
      </p:grpSp>
      <p:grpSp>
        <p:nvGrpSpPr>
          <p:cNvPr name="Group 5" id="5"/>
          <p:cNvGrpSpPr/>
          <p:nvPr/>
        </p:nvGrpSpPr>
        <p:grpSpPr>
          <a:xfrm rot="0">
            <a:off x="7564374" y="438912"/>
            <a:ext cx="3154680" cy="493776"/>
            <a:chOff x="0" y="0"/>
            <a:chExt cx="4206240" cy="658368"/>
          </a:xfrm>
        </p:grpSpPr>
        <p:sp>
          <p:nvSpPr>
            <p:cNvPr name="Freeform 6" id="6"/>
            <p:cNvSpPr/>
            <p:nvPr/>
          </p:nvSpPr>
          <p:spPr>
            <a:xfrm flipH="false" flipV="false" rot="0">
              <a:off x="0" y="0"/>
              <a:ext cx="4206240" cy="658368"/>
            </a:xfrm>
            <a:custGeom>
              <a:avLst/>
              <a:gdLst/>
              <a:ahLst/>
              <a:cxnLst/>
              <a:rect r="r" b="b" t="t" l="l"/>
              <a:pathLst>
                <a:path h="658368" w="4206240">
                  <a:moveTo>
                    <a:pt x="0" y="329184"/>
                  </a:moveTo>
                  <a:cubicBezTo>
                    <a:pt x="0" y="147320"/>
                    <a:pt x="147320" y="0"/>
                    <a:pt x="329184" y="0"/>
                  </a:cubicBezTo>
                  <a:lnTo>
                    <a:pt x="3877056" y="0"/>
                  </a:lnTo>
                  <a:cubicBezTo>
                    <a:pt x="4058920" y="0"/>
                    <a:pt x="4206240" y="147320"/>
                    <a:pt x="4206240" y="329184"/>
                  </a:cubicBezTo>
                  <a:cubicBezTo>
                    <a:pt x="4206240" y="511048"/>
                    <a:pt x="4058920" y="658368"/>
                    <a:pt x="3877056" y="658368"/>
                  </a:cubicBezTo>
                  <a:lnTo>
                    <a:pt x="329184" y="658368"/>
                  </a:lnTo>
                  <a:cubicBezTo>
                    <a:pt x="147320" y="658368"/>
                    <a:pt x="0" y="511048"/>
                    <a:pt x="0" y="329184"/>
                  </a:cubicBezTo>
                  <a:close/>
                </a:path>
              </a:pathLst>
            </a:custGeom>
            <a:solidFill>
              <a:srgbClr val="F2ECFB"/>
            </a:solidFill>
          </p:spPr>
        </p:sp>
      </p:grpSp>
      <p:grpSp>
        <p:nvGrpSpPr>
          <p:cNvPr name="Group 7" id="7"/>
          <p:cNvGrpSpPr/>
          <p:nvPr/>
        </p:nvGrpSpPr>
        <p:grpSpPr>
          <a:xfrm rot="0">
            <a:off x="6368796" y="438912"/>
            <a:ext cx="5545836" cy="493776"/>
            <a:chOff x="0" y="0"/>
            <a:chExt cx="7394448" cy="658368"/>
          </a:xfrm>
        </p:grpSpPr>
        <p:sp>
          <p:nvSpPr>
            <p:cNvPr name="Freeform 8" id="8"/>
            <p:cNvSpPr/>
            <p:nvPr/>
          </p:nvSpPr>
          <p:spPr>
            <a:xfrm flipH="false" flipV="false" rot="0">
              <a:off x="0" y="0"/>
              <a:ext cx="7394448" cy="658368"/>
            </a:xfrm>
            <a:custGeom>
              <a:avLst/>
              <a:gdLst/>
              <a:ahLst/>
              <a:cxnLst/>
              <a:rect r="r" b="b" t="t" l="l"/>
              <a:pathLst>
                <a:path h="658368" w="7394448">
                  <a:moveTo>
                    <a:pt x="0" y="0"/>
                  </a:moveTo>
                  <a:lnTo>
                    <a:pt x="7394448" y="0"/>
                  </a:lnTo>
                  <a:lnTo>
                    <a:pt x="7394448" y="658368"/>
                  </a:lnTo>
                  <a:lnTo>
                    <a:pt x="0" y="658368"/>
                  </a:lnTo>
                  <a:close/>
                </a:path>
              </a:pathLst>
            </a:custGeom>
            <a:blipFill>
              <a:blip r:embed="rId3">
                <a:alphaModFix amt="0"/>
              </a:blip>
              <a:stretch>
                <a:fillRect l="0" t="-168845" r="0" b="-168845"/>
              </a:stretch>
            </a:blipFill>
          </p:spPr>
        </p:sp>
        <p:sp>
          <p:nvSpPr>
            <p:cNvPr name="TextBox 9" id="9"/>
            <p:cNvSpPr txBox="true"/>
            <p:nvPr/>
          </p:nvSpPr>
          <p:spPr>
            <a:xfrm>
              <a:off x="0" y="-28575"/>
              <a:ext cx="7394448" cy="686943"/>
            </a:xfrm>
            <a:prstGeom prst="rect">
              <a:avLst/>
            </a:prstGeom>
          </p:spPr>
          <p:txBody>
            <a:bodyPr anchor="ctr" rtlCol="false" tIns="0" lIns="0" bIns="0" rIns="0"/>
            <a:lstStyle/>
            <a:p>
              <a:pPr algn="ctr">
                <a:lnSpc>
                  <a:spcPts val="2250"/>
                </a:lnSpc>
              </a:pPr>
              <a:r>
                <a:rPr lang="en-US" sz="1875" b="true">
                  <a:solidFill>
                    <a:srgbClr val="4A148C"/>
                  </a:solidFill>
                  <a:latin typeface="Arial Bold"/>
                  <a:ea typeface="Arial Bold"/>
                  <a:cs typeface="Arial Bold"/>
                  <a:sym typeface="Arial Bold"/>
                </a:rPr>
                <a:t>Proposed Solution</a:t>
              </a:r>
            </a:p>
          </p:txBody>
        </p:sp>
      </p:grpSp>
      <p:grpSp>
        <p:nvGrpSpPr>
          <p:cNvPr name="Group 10" id="10"/>
          <p:cNvGrpSpPr/>
          <p:nvPr/>
        </p:nvGrpSpPr>
        <p:grpSpPr>
          <a:xfrm rot="0">
            <a:off x="11914632" y="438912"/>
            <a:ext cx="5545836" cy="493776"/>
            <a:chOff x="0" y="0"/>
            <a:chExt cx="7394448" cy="658368"/>
          </a:xfrm>
        </p:grpSpPr>
        <p:sp>
          <p:nvSpPr>
            <p:cNvPr name="Freeform 11" id="11"/>
            <p:cNvSpPr/>
            <p:nvPr/>
          </p:nvSpPr>
          <p:spPr>
            <a:xfrm flipH="false" flipV="false" rot="0">
              <a:off x="0" y="0"/>
              <a:ext cx="7394448" cy="658368"/>
            </a:xfrm>
            <a:custGeom>
              <a:avLst/>
              <a:gdLst/>
              <a:ahLst/>
              <a:cxnLst/>
              <a:rect r="r" b="b" t="t" l="l"/>
              <a:pathLst>
                <a:path h="658368" w="7394448">
                  <a:moveTo>
                    <a:pt x="0" y="0"/>
                  </a:moveTo>
                  <a:lnTo>
                    <a:pt x="7394448" y="0"/>
                  </a:lnTo>
                  <a:lnTo>
                    <a:pt x="7394448" y="658368"/>
                  </a:lnTo>
                  <a:lnTo>
                    <a:pt x="0" y="658368"/>
                  </a:lnTo>
                  <a:close/>
                </a:path>
              </a:pathLst>
            </a:custGeom>
            <a:blipFill>
              <a:blip r:embed="rId3">
                <a:alphaModFix amt="0"/>
              </a:blip>
              <a:stretch>
                <a:fillRect l="0" t="-168845" r="0" b="-168845"/>
              </a:stretch>
            </a:blipFill>
          </p:spPr>
        </p:sp>
        <p:sp>
          <p:nvSpPr>
            <p:cNvPr name="TextBox 12" id="12"/>
            <p:cNvSpPr txBox="true"/>
            <p:nvPr/>
          </p:nvSpPr>
          <p:spPr>
            <a:xfrm>
              <a:off x="0" y="-28575"/>
              <a:ext cx="7394448" cy="686943"/>
            </a:xfrm>
            <a:prstGeom prst="rect">
              <a:avLst/>
            </a:prstGeom>
          </p:spPr>
          <p:txBody>
            <a:bodyPr anchor="ctr" rtlCol="false" tIns="0" lIns="0" bIns="0" rIns="0"/>
            <a:lstStyle/>
            <a:p>
              <a:pPr algn="ctr">
                <a:lnSpc>
                  <a:spcPts val="2250"/>
                </a:lnSpc>
              </a:pPr>
              <a:r>
                <a:rPr lang="en-US" sz="1875">
                  <a:solidFill>
                    <a:srgbClr val="A8A8B2"/>
                  </a:solidFill>
                  <a:latin typeface="Arial"/>
                  <a:ea typeface="Arial"/>
                  <a:cs typeface="Arial"/>
                  <a:sym typeface="Arial"/>
                </a:rPr>
                <a:t>Video</a:t>
              </a:r>
            </a:p>
          </p:txBody>
        </p:sp>
      </p:grpSp>
      <p:grpSp>
        <p:nvGrpSpPr>
          <p:cNvPr name="Group 13" id="13"/>
          <p:cNvGrpSpPr/>
          <p:nvPr/>
        </p:nvGrpSpPr>
        <p:grpSpPr>
          <a:xfrm rot="0">
            <a:off x="822960" y="1179576"/>
            <a:ext cx="16637508" cy="850392"/>
            <a:chOff x="0" y="0"/>
            <a:chExt cx="22183344" cy="1133856"/>
          </a:xfrm>
        </p:grpSpPr>
        <p:sp>
          <p:nvSpPr>
            <p:cNvPr name="Freeform 14" id="14"/>
            <p:cNvSpPr/>
            <p:nvPr/>
          </p:nvSpPr>
          <p:spPr>
            <a:xfrm flipH="false" flipV="false" rot="0">
              <a:off x="0" y="0"/>
              <a:ext cx="22183344" cy="1133856"/>
            </a:xfrm>
            <a:custGeom>
              <a:avLst/>
              <a:gdLst/>
              <a:ahLst/>
              <a:cxnLst/>
              <a:rect r="r" b="b" t="t" l="l"/>
              <a:pathLst>
                <a:path h="1133856" w="22183344">
                  <a:moveTo>
                    <a:pt x="0" y="109728"/>
                  </a:moveTo>
                  <a:cubicBezTo>
                    <a:pt x="0" y="49149"/>
                    <a:pt x="49149" y="0"/>
                    <a:pt x="109728" y="0"/>
                  </a:cubicBezTo>
                  <a:lnTo>
                    <a:pt x="22073615" y="0"/>
                  </a:lnTo>
                  <a:cubicBezTo>
                    <a:pt x="22134195" y="0"/>
                    <a:pt x="22183344" y="49149"/>
                    <a:pt x="22183344" y="109728"/>
                  </a:cubicBezTo>
                  <a:lnTo>
                    <a:pt x="22183344" y="1024128"/>
                  </a:lnTo>
                  <a:cubicBezTo>
                    <a:pt x="22183344" y="1084707"/>
                    <a:pt x="22134195" y="1133856"/>
                    <a:pt x="22073615" y="1133856"/>
                  </a:cubicBezTo>
                  <a:lnTo>
                    <a:pt x="109728" y="1133856"/>
                  </a:lnTo>
                  <a:cubicBezTo>
                    <a:pt x="49149" y="1133856"/>
                    <a:pt x="0" y="1084707"/>
                    <a:pt x="0" y="1024128"/>
                  </a:cubicBezTo>
                  <a:close/>
                </a:path>
              </a:pathLst>
            </a:custGeom>
            <a:solidFill>
              <a:srgbClr val="F2ECFB"/>
            </a:solidFill>
          </p:spPr>
        </p:sp>
      </p:grpSp>
      <p:grpSp>
        <p:nvGrpSpPr>
          <p:cNvPr name="Group 15" id="15"/>
          <p:cNvGrpSpPr/>
          <p:nvPr/>
        </p:nvGrpSpPr>
        <p:grpSpPr>
          <a:xfrm rot="0">
            <a:off x="1234440" y="1179576"/>
            <a:ext cx="15814548" cy="850392"/>
            <a:chOff x="0" y="0"/>
            <a:chExt cx="21086064" cy="1133856"/>
          </a:xfrm>
        </p:grpSpPr>
        <p:sp>
          <p:nvSpPr>
            <p:cNvPr name="Freeform 16" id="16"/>
            <p:cNvSpPr/>
            <p:nvPr/>
          </p:nvSpPr>
          <p:spPr>
            <a:xfrm flipH="false" flipV="false" rot="0">
              <a:off x="0" y="0"/>
              <a:ext cx="21086065" cy="1133856"/>
            </a:xfrm>
            <a:custGeom>
              <a:avLst/>
              <a:gdLst/>
              <a:ahLst/>
              <a:cxnLst/>
              <a:rect r="r" b="b" t="t" l="l"/>
              <a:pathLst>
                <a:path h="1133856" w="21086065">
                  <a:moveTo>
                    <a:pt x="0" y="0"/>
                  </a:moveTo>
                  <a:lnTo>
                    <a:pt x="21086065" y="0"/>
                  </a:lnTo>
                  <a:lnTo>
                    <a:pt x="21086065" y="1133856"/>
                  </a:lnTo>
                  <a:lnTo>
                    <a:pt x="0" y="1133856"/>
                  </a:lnTo>
                  <a:close/>
                </a:path>
              </a:pathLst>
            </a:custGeom>
            <a:blipFill>
              <a:blip r:embed="rId3">
                <a:alphaModFix amt="0"/>
              </a:blip>
              <a:stretch>
                <a:fillRect l="0" t="-312358" r="0" b="-312358"/>
              </a:stretch>
            </a:blipFill>
          </p:spPr>
        </p:sp>
        <p:sp>
          <p:nvSpPr>
            <p:cNvPr name="TextBox 17" id="17"/>
            <p:cNvSpPr txBox="true"/>
            <p:nvPr/>
          </p:nvSpPr>
          <p:spPr>
            <a:xfrm>
              <a:off x="0" y="-38100"/>
              <a:ext cx="21086064" cy="1171956"/>
            </a:xfrm>
            <a:prstGeom prst="rect">
              <a:avLst/>
            </a:prstGeom>
          </p:spPr>
          <p:txBody>
            <a:bodyPr anchor="ctr" rtlCol="false" tIns="0" lIns="0" bIns="0" rIns="0"/>
            <a:lstStyle/>
            <a:p>
              <a:pPr algn="l">
                <a:lnSpc>
                  <a:spcPts val="2794"/>
                </a:lnSpc>
              </a:pPr>
              <a:r>
                <a:rPr lang="en-US" sz="2025" b="true">
                  <a:solidFill>
                    <a:srgbClr val="4A148C"/>
                  </a:solidFill>
                  <a:latin typeface="Arial Bold"/>
                  <a:ea typeface="Arial Bold"/>
                  <a:cs typeface="Arial Bold"/>
                  <a:sym typeface="Arial Bold"/>
                </a:rPr>
                <a:t>Modelling the Rhythm, Not the Geometry:  </a:t>
              </a:r>
              <a:r>
                <a:rPr lang="en-US" sz="2025">
                  <a:solidFill>
                    <a:srgbClr val="1E1E24"/>
                  </a:solidFill>
                  <a:latin typeface="Arial"/>
                  <a:ea typeface="Arial"/>
                  <a:cs typeface="Arial"/>
                  <a:sym typeface="Arial"/>
                </a:rPr>
                <a:t> A lightweight Assembly Intelligence Layer that tracks flow and quality , no 3D factory replica required because geometry doesn’t predict anything , rhythm does.</a:t>
              </a:r>
            </a:p>
          </p:txBody>
        </p:sp>
      </p:grpSp>
      <p:grpSp>
        <p:nvGrpSpPr>
          <p:cNvPr name="Group 18" id="18"/>
          <p:cNvGrpSpPr/>
          <p:nvPr/>
        </p:nvGrpSpPr>
        <p:grpSpPr>
          <a:xfrm rot="0">
            <a:off x="822960" y="2304288"/>
            <a:ext cx="10972800" cy="411480"/>
            <a:chOff x="0" y="0"/>
            <a:chExt cx="14630400" cy="548640"/>
          </a:xfrm>
        </p:grpSpPr>
        <p:sp>
          <p:nvSpPr>
            <p:cNvPr name="Freeform 19" id="1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0" id="20"/>
            <p:cNvSpPr txBox="true"/>
            <p:nvPr/>
          </p:nvSpPr>
          <p:spPr>
            <a:xfrm>
              <a:off x="0" y="-19050"/>
              <a:ext cx="14630400" cy="567690"/>
            </a:xfrm>
            <a:prstGeom prst="rect">
              <a:avLst/>
            </a:prstGeom>
          </p:spPr>
          <p:txBody>
            <a:bodyPr anchor="ctr" rtlCol="false" tIns="0" lIns="0" bIns="0" rIns="0"/>
            <a:lstStyle/>
            <a:p>
              <a:pPr algn="l">
                <a:lnSpc>
                  <a:spcPts val="1980"/>
                </a:lnSpc>
              </a:pPr>
              <a:r>
                <a:rPr lang="en-US" b="true" sz="1650" spc="180">
                  <a:solidFill>
                    <a:srgbClr val="4A148C"/>
                  </a:solidFill>
                  <a:latin typeface="Arial Bold"/>
                  <a:ea typeface="Arial Bold"/>
                  <a:cs typeface="Arial Bold"/>
                  <a:sym typeface="Arial Bold"/>
                </a:rPr>
                <a:t>THREE LAYERS, WORKING AS ONE SYSTEM</a:t>
              </a:r>
            </a:p>
          </p:txBody>
        </p:sp>
      </p:grpSp>
      <p:grpSp>
        <p:nvGrpSpPr>
          <p:cNvPr name="Group 21" id="21"/>
          <p:cNvGrpSpPr/>
          <p:nvPr/>
        </p:nvGrpSpPr>
        <p:grpSpPr>
          <a:xfrm rot="0">
            <a:off x="813435" y="2802255"/>
            <a:ext cx="5290566" cy="3516630"/>
            <a:chOff x="0" y="0"/>
            <a:chExt cx="7054088" cy="4688840"/>
          </a:xfrm>
        </p:grpSpPr>
        <p:sp>
          <p:nvSpPr>
            <p:cNvPr name="Freeform 22" id="22"/>
            <p:cNvSpPr/>
            <p:nvPr/>
          </p:nvSpPr>
          <p:spPr>
            <a:xfrm flipH="false" flipV="false" rot="0">
              <a:off x="0" y="0"/>
              <a:ext cx="7054088" cy="4688840"/>
            </a:xfrm>
            <a:custGeom>
              <a:avLst/>
              <a:gdLst/>
              <a:ahLst/>
              <a:cxnLst/>
              <a:rect r="r" b="b" t="t" l="l"/>
              <a:pathLst>
                <a:path h="4688840" w="7054088">
                  <a:moveTo>
                    <a:pt x="0" y="147066"/>
                  </a:moveTo>
                  <a:cubicBezTo>
                    <a:pt x="0" y="65913"/>
                    <a:pt x="65913" y="0"/>
                    <a:pt x="147066" y="0"/>
                  </a:cubicBezTo>
                  <a:lnTo>
                    <a:pt x="6907022" y="0"/>
                  </a:lnTo>
                  <a:cubicBezTo>
                    <a:pt x="6988302" y="0"/>
                    <a:pt x="7054088" y="65913"/>
                    <a:pt x="7054088" y="147066"/>
                  </a:cubicBezTo>
                  <a:lnTo>
                    <a:pt x="7054088" y="4541774"/>
                  </a:lnTo>
                  <a:cubicBezTo>
                    <a:pt x="7054088" y="4623054"/>
                    <a:pt x="6988175" y="4688840"/>
                    <a:pt x="6907022" y="4688840"/>
                  </a:cubicBezTo>
                  <a:lnTo>
                    <a:pt x="147066" y="4688840"/>
                  </a:lnTo>
                  <a:cubicBezTo>
                    <a:pt x="65913" y="4688840"/>
                    <a:pt x="0" y="4622927"/>
                    <a:pt x="0" y="4541774"/>
                  </a:cubicBezTo>
                  <a:close/>
                </a:path>
              </a:pathLst>
            </a:custGeom>
            <a:solidFill>
              <a:srgbClr val="FFFFFF"/>
            </a:solidFill>
            <a:ln w="19050" cap="sq">
              <a:solidFill>
                <a:srgbClr val="E3DCF0"/>
              </a:solidFill>
              <a:prstDash val="solid"/>
              <a:miter/>
            </a:ln>
          </p:spPr>
        </p:sp>
      </p:grpSp>
      <p:grpSp>
        <p:nvGrpSpPr>
          <p:cNvPr name="Group 23" id="23"/>
          <p:cNvGrpSpPr/>
          <p:nvPr/>
        </p:nvGrpSpPr>
        <p:grpSpPr>
          <a:xfrm rot="0">
            <a:off x="1234440" y="3195828"/>
            <a:ext cx="685800" cy="685800"/>
            <a:chOff x="0" y="0"/>
            <a:chExt cx="914400" cy="914400"/>
          </a:xfrm>
        </p:grpSpPr>
        <p:sp>
          <p:nvSpPr>
            <p:cNvPr name="Freeform 24" id="2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4A148C"/>
            </a:solidFill>
          </p:spPr>
        </p:sp>
      </p:grpSp>
      <p:grpSp>
        <p:nvGrpSpPr>
          <p:cNvPr name="Group 25" id="25"/>
          <p:cNvGrpSpPr/>
          <p:nvPr/>
        </p:nvGrpSpPr>
        <p:grpSpPr>
          <a:xfrm rot="0">
            <a:off x="1234440" y="3195828"/>
            <a:ext cx="685800" cy="685800"/>
            <a:chOff x="0" y="0"/>
            <a:chExt cx="914400" cy="914400"/>
          </a:xfrm>
        </p:grpSpPr>
        <p:sp>
          <p:nvSpPr>
            <p:cNvPr name="Freeform 26" id="2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7" id="27"/>
            <p:cNvSpPr txBox="true"/>
            <p:nvPr/>
          </p:nvSpPr>
          <p:spPr>
            <a:xfrm>
              <a:off x="0" y="-19050"/>
              <a:ext cx="914400" cy="933450"/>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1</a:t>
              </a:r>
            </a:p>
          </p:txBody>
        </p:sp>
      </p:grpSp>
      <p:grpSp>
        <p:nvGrpSpPr>
          <p:cNvPr name="Group 28" id="28"/>
          <p:cNvGrpSpPr/>
          <p:nvPr/>
        </p:nvGrpSpPr>
        <p:grpSpPr>
          <a:xfrm rot="0">
            <a:off x="1234440" y="4073652"/>
            <a:ext cx="4448556" cy="754380"/>
            <a:chOff x="0" y="0"/>
            <a:chExt cx="5931408" cy="1005840"/>
          </a:xfrm>
        </p:grpSpPr>
        <p:sp>
          <p:nvSpPr>
            <p:cNvPr name="Freeform 29" id="29"/>
            <p:cNvSpPr/>
            <p:nvPr/>
          </p:nvSpPr>
          <p:spPr>
            <a:xfrm flipH="false" flipV="false" rot="0">
              <a:off x="0" y="0"/>
              <a:ext cx="5931408" cy="1005840"/>
            </a:xfrm>
            <a:custGeom>
              <a:avLst/>
              <a:gdLst/>
              <a:ahLst/>
              <a:cxnLst/>
              <a:rect r="r" b="b" t="t" l="l"/>
              <a:pathLst>
                <a:path h="1005840" w="5931408">
                  <a:moveTo>
                    <a:pt x="0" y="0"/>
                  </a:moveTo>
                  <a:lnTo>
                    <a:pt x="5931408" y="0"/>
                  </a:lnTo>
                  <a:lnTo>
                    <a:pt x="5931408" y="1005840"/>
                  </a:lnTo>
                  <a:lnTo>
                    <a:pt x="0" y="1005840"/>
                  </a:lnTo>
                  <a:close/>
                </a:path>
              </a:pathLst>
            </a:custGeom>
            <a:blipFill>
              <a:blip r:embed="rId3">
                <a:alphaModFix amt="0"/>
              </a:blip>
              <a:stretch>
                <a:fillRect l="0" t="-64902" r="0" b="-64902"/>
              </a:stretch>
            </a:blipFill>
          </p:spPr>
        </p:sp>
        <p:sp>
          <p:nvSpPr>
            <p:cNvPr name="TextBox 30" id="30"/>
            <p:cNvSpPr txBox="true"/>
            <p:nvPr/>
          </p:nvSpPr>
          <p:spPr>
            <a:xfrm>
              <a:off x="0" y="-28575"/>
              <a:ext cx="5931408" cy="1034415"/>
            </a:xfrm>
            <a:prstGeom prst="rect">
              <a:avLst/>
            </a:prstGeom>
          </p:spPr>
          <p:txBody>
            <a:bodyPr anchor="ctr" rtlCol="false" tIns="0" lIns="0" bIns="0" rIns="0"/>
            <a:lstStyle/>
            <a:p>
              <a:pPr algn="l">
                <a:lnSpc>
                  <a:spcPts val="2835"/>
                </a:lnSpc>
              </a:pPr>
              <a:r>
                <a:rPr lang="en-US" sz="2250" b="true">
                  <a:solidFill>
                    <a:srgbClr val="1E1E24"/>
                  </a:solidFill>
                  <a:latin typeface="Arial Bold"/>
                  <a:ea typeface="Arial Bold"/>
                  <a:cs typeface="Arial Bold"/>
                  <a:sym typeface="Arial Bold"/>
                </a:rPr>
                <a:t>The Line Mirror</a:t>
              </a:r>
            </a:p>
          </p:txBody>
        </p:sp>
      </p:grpSp>
      <p:grpSp>
        <p:nvGrpSpPr>
          <p:cNvPr name="Group 31" id="31"/>
          <p:cNvGrpSpPr/>
          <p:nvPr/>
        </p:nvGrpSpPr>
        <p:grpSpPr>
          <a:xfrm rot="0">
            <a:off x="1234440" y="4869180"/>
            <a:ext cx="4448556" cy="1277078"/>
            <a:chOff x="0" y="0"/>
            <a:chExt cx="5931408" cy="1702770"/>
          </a:xfrm>
        </p:grpSpPr>
        <p:sp>
          <p:nvSpPr>
            <p:cNvPr name="Freeform 32" id="32"/>
            <p:cNvSpPr/>
            <p:nvPr/>
          </p:nvSpPr>
          <p:spPr>
            <a:xfrm flipH="false" flipV="false" rot="0">
              <a:off x="0" y="0"/>
              <a:ext cx="5931408" cy="1702770"/>
            </a:xfrm>
            <a:custGeom>
              <a:avLst/>
              <a:gdLst/>
              <a:ahLst/>
              <a:cxnLst/>
              <a:rect r="r" b="b" t="t" l="l"/>
              <a:pathLst>
                <a:path h="1702770" w="5931408">
                  <a:moveTo>
                    <a:pt x="0" y="0"/>
                  </a:moveTo>
                  <a:lnTo>
                    <a:pt x="5931408" y="0"/>
                  </a:lnTo>
                  <a:lnTo>
                    <a:pt x="5931408" y="1702770"/>
                  </a:lnTo>
                  <a:lnTo>
                    <a:pt x="0" y="1702770"/>
                  </a:lnTo>
                  <a:close/>
                </a:path>
              </a:pathLst>
            </a:custGeom>
            <a:blipFill>
              <a:blip r:embed="rId3">
                <a:alphaModFix amt="0"/>
              </a:blip>
              <a:stretch>
                <a:fillRect l="0" t="-22228" r="0" b="-13519"/>
              </a:stretch>
            </a:blipFill>
          </p:spPr>
        </p:sp>
        <p:sp>
          <p:nvSpPr>
            <p:cNvPr name="TextBox 33" id="33"/>
            <p:cNvSpPr txBox="true"/>
            <p:nvPr/>
          </p:nvSpPr>
          <p:spPr>
            <a:xfrm>
              <a:off x="0" y="-66675"/>
              <a:ext cx="5931408" cy="1769445"/>
            </a:xfrm>
            <a:prstGeom prst="rect">
              <a:avLst/>
            </a:prstGeom>
          </p:spPr>
          <p:txBody>
            <a:bodyPr anchor="ctr" rtlCol="false" tIns="0" lIns="0" bIns="0" rIns="0"/>
            <a:lstStyle/>
            <a:p>
              <a:pPr algn="l">
                <a:lnSpc>
                  <a:spcPts val="2488"/>
                </a:lnSpc>
              </a:pPr>
              <a:r>
                <a:rPr lang="en-US" sz="1620">
                  <a:solidFill>
                    <a:srgbClr val="6B6B76"/>
                  </a:solidFill>
                  <a:latin typeface="Arial"/>
                  <a:ea typeface="Arial"/>
                  <a:cs typeface="Arial"/>
                  <a:sym typeface="Arial"/>
                </a:rPr>
                <a:t>A functional model not a 3D replica tracking cycle time vs. takt time per station, queue depth between stations, and each vehicle's process history.</a:t>
              </a:r>
            </a:p>
          </p:txBody>
        </p:sp>
      </p:grpSp>
      <p:grpSp>
        <p:nvGrpSpPr>
          <p:cNvPr name="Group 34" id="34"/>
          <p:cNvGrpSpPr/>
          <p:nvPr/>
        </p:nvGrpSpPr>
        <p:grpSpPr>
          <a:xfrm rot="0">
            <a:off x="6496431" y="2802255"/>
            <a:ext cx="5290566" cy="3516630"/>
            <a:chOff x="0" y="0"/>
            <a:chExt cx="7054088" cy="4688840"/>
          </a:xfrm>
        </p:grpSpPr>
        <p:sp>
          <p:nvSpPr>
            <p:cNvPr name="Freeform 35" id="35"/>
            <p:cNvSpPr/>
            <p:nvPr/>
          </p:nvSpPr>
          <p:spPr>
            <a:xfrm flipH="false" flipV="false" rot="0">
              <a:off x="0" y="0"/>
              <a:ext cx="7054088" cy="4688840"/>
            </a:xfrm>
            <a:custGeom>
              <a:avLst/>
              <a:gdLst/>
              <a:ahLst/>
              <a:cxnLst/>
              <a:rect r="r" b="b" t="t" l="l"/>
              <a:pathLst>
                <a:path h="4688840" w="7054088">
                  <a:moveTo>
                    <a:pt x="0" y="147066"/>
                  </a:moveTo>
                  <a:cubicBezTo>
                    <a:pt x="0" y="65913"/>
                    <a:pt x="65913" y="0"/>
                    <a:pt x="147066" y="0"/>
                  </a:cubicBezTo>
                  <a:lnTo>
                    <a:pt x="6907022" y="0"/>
                  </a:lnTo>
                  <a:cubicBezTo>
                    <a:pt x="6988302" y="0"/>
                    <a:pt x="7054088" y="65913"/>
                    <a:pt x="7054088" y="147066"/>
                  </a:cubicBezTo>
                  <a:lnTo>
                    <a:pt x="7054088" y="4541774"/>
                  </a:lnTo>
                  <a:cubicBezTo>
                    <a:pt x="7054088" y="4623054"/>
                    <a:pt x="6988175" y="4688840"/>
                    <a:pt x="6907022" y="4688840"/>
                  </a:cubicBezTo>
                  <a:lnTo>
                    <a:pt x="147066" y="4688840"/>
                  </a:lnTo>
                  <a:cubicBezTo>
                    <a:pt x="65913" y="4688840"/>
                    <a:pt x="0" y="4622927"/>
                    <a:pt x="0" y="4541774"/>
                  </a:cubicBezTo>
                  <a:close/>
                </a:path>
              </a:pathLst>
            </a:custGeom>
            <a:solidFill>
              <a:srgbClr val="FFFFFF"/>
            </a:solidFill>
            <a:ln w="19050" cap="sq">
              <a:solidFill>
                <a:srgbClr val="E3DCF0"/>
              </a:solidFill>
              <a:prstDash val="solid"/>
              <a:miter/>
            </a:ln>
          </p:spPr>
        </p:sp>
      </p:grpSp>
      <p:grpSp>
        <p:nvGrpSpPr>
          <p:cNvPr name="Group 36" id="36"/>
          <p:cNvGrpSpPr/>
          <p:nvPr/>
        </p:nvGrpSpPr>
        <p:grpSpPr>
          <a:xfrm rot="0">
            <a:off x="6917436" y="3195828"/>
            <a:ext cx="685800" cy="685800"/>
            <a:chOff x="0" y="0"/>
            <a:chExt cx="914400" cy="914400"/>
          </a:xfrm>
        </p:grpSpPr>
        <p:sp>
          <p:nvSpPr>
            <p:cNvPr name="Freeform 37" id="3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4A148C"/>
            </a:solidFill>
          </p:spPr>
        </p:sp>
      </p:grpSp>
      <p:grpSp>
        <p:nvGrpSpPr>
          <p:cNvPr name="Group 38" id="38"/>
          <p:cNvGrpSpPr/>
          <p:nvPr/>
        </p:nvGrpSpPr>
        <p:grpSpPr>
          <a:xfrm rot="0">
            <a:off x="6917436" y="3195828"/>
            <a:ext cx="685800" cy="685800"/>
            <a:chOff x="0" y="0"/>
            <a:chExt cx="914400" cy="914400"/>
          </a:xfrm>
        </p:grpSpPr>
        <p:sp>
          <p:nvSpPr>
            <p:cNvPr name="Freeform 39" id="3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40" id="40"/>
            <p:cNvSpPr txBox="true"/>
            <p:nvPr/>
          </p:nvSpPr>
          <p:spPr>
            <a:xfrm>
              <a:off x="0" y="-19050"/>
              <a:ext cx="914400" cy="933450"/>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2</a:t>
              </a:r>
            </a:p>
          </p:txBody>
        </p:sp>
      </p:grpSp>
      <p:grpSp>
        <p:nvGrpSpPr>
          <p:cNvPr name="Group 41" id="41"/>
          <p:cNvGrpSpPr/>
          <p:nvPr/>
        </p:nvGrpSpPr>
        <p:grpSpPr>
          <a:xfrm rot="0">
            <a:off x="6848856" y="4073652"/>
            <a:ext cx="4448556" cy="754380"/>
            <a:chOff x="0" y="0"/>
            <a:chExt cx="5931408" cy="1005840"/>
          </a:xfrm>
        </p:grpSpPr>
        <p:sp>
          <p:nvSpPr>
            <p:cNvPr name="Freeform 42" id="42"/>
            <p:cNvSpPr/>
            <p:nvPr/>
          </p:nvSpPr>
          <p:spPr>
            <a:xfrm flipH="false" flipV="false" rot="0">
              <a:off x="0" y="0"/>
              <a:ext cx="5931408" cy="1005840"/>
            </a:xfrm>
            <a:custGeom>
              <a:avLst/>
              <a:gdLst/>
              <a:ahLst/>
              <a:cxnLst/>
              <a:rect r="r" b="b" t="t" l="l"/>
              <a:pathLst>
                <a:path h="1005840" w="5931408">
                  <a:moveTo>
                    <a:pt x="0" y="0"/>
                  </a:moveTo>
                  <a:lnTo>
                    <a:pt x="5931408" y="0"/>
                  </a:lnTo>
                  <a:lnTo>
                    <a:pt x="5931408" y="1005840"/>
                  </a:lnTo>
                  <a:lnTo>
                    <a:pt x="0" y="1005840"/>
                  </a:lnTo>
                  <a:close/>
                </a:path>
              </a:pathLst>
            </a:custGeom>
            <a:blipFill>
              <a:blip r:embed="rId3">
                <a:alphaModFix amt="0"/>
              </a:blip>
              <a:stretch>
                <a:fillRect l="0" t="-64902" r="0" b="-64902"/>
              </a:stretch>
            </a:blipFill>
          </p:spPr>
        </p:sp>
        <p:sp>
          <p:nvSpPr>
            <p:cNvPr name="TextBox 43" id="43"/>
            <p:cNvSpPr txBox="true"/>
            <p:nvPr/>
          </p:nvSpPr>
          <p:spPr>
            <a:xfrm>
              <a:off x="0" y="-28575"/>
              <a:ext cx="5931408" cy="1034415"/>
            </a:xfrm>
            <a:prstGeom prst="rect">
              <a:avLst/>
            </a:prstGeom>
          </p:spPr>
          <p:txBody>
            <a:bodyPr anchor="ctr" rtlCol="false" tIns="0" lIns="0" bIns="0" rIns="0"/>
            <a:lstStyle/>
            <a:p>
              <a:pPr algn="l">
                <a:lnSpc>
                  <a:spcPts val="2835"/>
                </a:lnSpc>
              </a:pPr>
              <a:r>
                <a:rPr lang="en-US" sz="2250" b="true">
                  <a:solidFill>
                    <a:srgbClr val="1E1E24"/>
                  </a:solidFill>
                  <a:latin typeface="Arial Bold"/>
                  <a:ea typeface="Arial Bold"/>
                  <a:cs typeface="Arial Bold"/>
                  <a:sym typeface="Arial Bold"/>
                </a:rPr>
                <a:t>The Flow Brain</a:t>
              </a:r>
            </a:p>
          </p:txBody>
        </p:sp>
      </p:grpSp>
      <p:grpSp>
        <p:nvGrpSpPr>
          <p:cNvPr name="Group 44" id="44"/>
          <p:cNvGrpSpPr/>
          <p:nvPr/>
        </p:nvGrpSpPr>
        <p:grpSpPr>
          <a:xfrm rot="0">
            <a:off x="6917436" y="4618897"/>
            <a:ext cx="4448556" cy="1591403"/>
            <a:chOff x="0" y="0"/>
            <a:chExt cx="5931408" cy="2121870"/>
          </a:xfrm>
        </p:grpSpPr>
        <p:sp>
          <p:nvSpPr>
            <p:cNvPr name="Freeform 45" id="45"/>
            <p:cNvSpPr/>
            <p:nvPr/>
          </p:nvSpPr>
          <p:spPr>
            <a:xfrm flipH="false" flipV="false" rot="0">
              <a:off x="0" y="0"/>
              <a:ext cx="5931408" cy="2121870"/>
            </a:xfrm>
            <a:custGeom>
              <a:avLst/>
              <a:gdLst/>
              <a:ahLst/>
              <a:cxnLst/>
              <a:rect r="r" b="b" t="t" l="l"/>
              <a:pathLst>
                <a:path h="2121870" w="5931408">
                  <a:moveTo>
                    <a:pt x="0" y="0"/>
                  </a:moveTo>
                  <a:lnTo>
                    <a:pt x="5931408" y="0"/>
                  </a:lnTo>
                  <a:lnTo>
                    <a:pt x="5931408" y="2121870"/>
                  </a:lnTo>
                  <a:lnTo>
                    <a:pt x="0" y="2121870"/>
                  </a:lnTo>
                  <a:close/>
                </a:path>
              </a:pathLst>
            </a:custGeom>
            <a:blipFill>
              <a:blip r:embed="rId3">
                <a:alphaModFix amt="0"/>
              </a:blip>
              <a:stretch>
                <a:fillRect l="0" t="-17837" r="0" b="8902"/>
              </a:stretch>
            </a:blipFill>
          </p:spPr>
        </p:sp>
        <p:sp>
          <p:nvSpPr>
            <p:cNvPr name="TextBox 46" id="46"/>
            <p:cNvSpPr txBox="true"/>
            <p:nvPr/>
          </p:nvSpPr>
          <p:spPr>
            <a:xfrm>
              <a:off x="0" y="-66675"/>
              <a:ext cx="5931408" cy="2188545"/>
            </a:xfrm>
            <a:prstGeom prst="rect">
              <a:avLst/>
            </a:prstGeom>
          </p:spPr>
          <p:txBody>
            <a:bodyPr anchor="ctr" rtlCol="false" tIns="0" lIns="0" bIns="0" rIns="0"/>
            <a:lstStyle/>
            <a:p>
              <a:pPr algn="l">
                <a:lnSpc>
                  <a:spcPts val="2488"/>
                </a:lnSpc>
              </a:pPr>
              <a:r>
                <a:rPr lang="en-US" sz="1620">
                  <a:solidFill>
                    <a:srgbClr val="6B6B76"/>
                  </a:solidFill>
                  <a:latin typeface="Arial"/>
                  <a:ea typeface="Arial"/>
                  <a:cs typeface="Arial"/>
                  <a:sym typeface="Arial"/>
                </a:rPr>
                <a:t>A statistical baseline plus continuous drift detection catches gradual creep before it's a failure, then forecasts how a deviation will affect downstream queues e.g., a station's buffer emptying in ~20 minutes.</a:t>
              </a:r>
            </a:p>
          </p:txBody>
        </p:sp>
      </p:grpSp>
      <p:grpSp>
        <p:nvGrpSpPr>
          <p:cNvPr name="Group 47" id="47"/>
          <p:cNvGrpSpPr/>
          <p:nvPr/>
        </p:nvGrpSpPr>
        <p:grpSpPr>
          <a:xfrm rot="0">
            <a:off x="12179427" y="2802255"/>
            <a:ext cx="5290566" cy="3516630"/>
            <a:chOff x="0" y="0"/>
            <a:chExt cx="7054088" cy="4688840"/>
          </a:xfrm>
        </p:grpSpPr>
        <p:sp>
          <p:nvSpPr>
            <p:cNvPr name="Freeform 48" id="48"/>
            <p:cNvSpPr/>
            <p:nvPr/>
          </p:nvSpPr>
          <p:spPr>
            <a:xfrm flipH="false" flipV="false" rot="0">
              <a:off x="0" y="0"/>
              <a:ext cx="7054088" cy="4688840"/>
            </a:xfrm>
            <a:custGeom>
              <a:avLst/>
              <a:gdLst/>
              <a:ahLst/>
              <a:cxnLst/>
              <a:rect r="r" b="b" t="t" l="l"/>
              <a:pathLst>
                <a:path h="4688840" w="7054088">
                  <a:moveTo>
                    <a:pt x="0" y="147066"/>
                  </a:moveTo>
                  <a:cubicBezTo>
                    <a:pt x="0" y="65913"/>
                    <a:pt x="65913" y="0"/>
                    <a:pt x="147066" y="0"/>
                  </a:cubicBezTo>
                  <a:lnTo>
                    <a:pt x="6907022" y="0"/>
                  </a:lnTo>
                  <a:cubicBezTo>
                    <a:pt x="6988302" y="0"/>
                    <a:pt x="7054088" y="65913"/>
                    <a:pt x="7054088" y="147066"/>
                  </a:cubicBezTo>
                  <a:lnTo>
                    <a:pt x="7054088" y="4541774"/>
                  </a:lnTo>
                  <a:cubicBezTo>
                    <a:pt x="7054088" y="4623054"/>
                    <a:pt x="6988175" y="4688840"/>
                    <a:pt x="6907022" y="4688840"/>
                  </a:cubicBezTo>
                  <a:lnTo>
                    <a:pt x="147066" y="4688840"/>
                  </a:lnTo>
                  <a:cubicBezTo>
                    <a:pt x="65913" y="4688840"/>
                    <a:pt x="0" y="4622927"/>
                    <a:pt x="0" y="4541774"/>
                  </a:cubicBezTo>
                  <a:close/>
                </a:path>
              </a:pathLst>
            </a:custGeom>
            <a:solidFill>
              <a:srgbClr val="FFFFFF"/>
            </a:solidFill>
            <a:ln w="19050" cap="sq">
              <a:solidFill>
                <a:srgbClr val="E3DCF0"/>
              </a:solidFill>
              <a:prstDash val="solid"/>
              <a:miter/>
            </a:ln>
          </p:spPr>
        </p:sp>
      </p:grpSp>
      <p:grpSp>
        <p:nvGrpSpPr>
          <p:cNvPr name="Group 49" id="49"/>
          <p:cNvGrpSpPr/>
          <p:nvPr/>
        </p:nvGrpSpPr>
        <p:grpSpPr>
          <a:xfrm rot="0">
            <a:off x="12600432" y="3195828"/>
            <a:ext cx="685800" cy="685800"/>
            <a:chOff x="0" y="0"/>
            <a:chExt cx="914400" cy="914400"/>
          </a:xfrm>
        </p:grpSpPr>
        <p:sp>
          <p:nvSpPr>
            <p:cNvPr name="Freeform 50" id="5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4A148C"/>
            </a:solidFill>
          </p:spPr>
        </p:sp>
      </p:grpSp>
      <p:grpSp>
        <p:nvGrpSpPr>
          <p:cNvPr name="Group 51" id="51"/>
          <p:cNvGrpSpPr/>
          <p:nvPr/>
        </p:nvGrpSpPr>
        <p:grpSpPr>
          <a:xfrm rot="0">
            <a:off x="12600432" y="3195828"/>
            <a:ext cx="685800" cy="685800"/>
            <a:chOff x="0" y="0"/>
            <a:chExt cx="914400" cy="914400"/>
          </a:xfrm>
        </p:grpSpPr>
        <p:sp>
          <p:nvSpPr>
            <p:cNvPr name="Freeform 52" id="5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53" id="53"/>
            <p:cNvSpPr txBox="true"/>
            <p:nvPr/>
          </p:nvSpPr>
          <p:spPr>
            <a:xfrm>
              <a:off x="0" y="-19050"/>
              <a:ext cx="914400" cy="933450"/>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3</a:t>
              </a:r>
            </a:p>
          </p:txBody>
        </p:sp>
      </p:grpSp>
      <p:grpSp>
        <p:nvGrpSpPr>
          <p:cNvPr name="Group 54" id="54"/>
          <p:cNvGrpSpPr/>
          <p:nvPr/>
        </p:nvGrpSpPr>
        <p:grpSpPr>
          <a:xfrm rot="0">
            <a:off x="12600432" y="4073652"/>
            <a:ext cx="4448556" cy="754380"/>
            <a:chOff x="0" y="0"/>
            <a:chExt cx="5931408" cy="1005840"/>
          </a:xfrm>
        </p:grpSpPr>
        <p:sp>
          <p:nvSpPr>
            <p:cNvPr name="Freeform 55" id="55"/>
            <p:cNvSpPr/>
            <p:nvPr/>
          </p:nvSpPr>
          <p:spPr>
            <a:xfrm flipH="false" flipV="false" rot="0">
              <a:off x="0" y="0"/>
              <a:ext cx="5931408" cy="1005840"/>
            </a:xfrm>
            <a:custGeom>
              <a:avLst/>
              <a:gdLst/>
              <a:ahLst/>
              <a:cxnLst/>
              <a:rect r="r" b="b" t="t" l="l"/>
              <a:pathLst>
                <a:path h="1005840" w="5931408">
                  <a:moveTo>
                    <a:pt x="0" y="0"/>
                  </a:moveTo>
                  <a:lnTo>
                    <a:pt x="5931408" y="0"/>
                  </a:lnTo>
                  <a:lnTo>
                    <a:pt x="5931408" y="1005840"/>
                  </a:lnTo>
                  <a:lnTo>
                    <a:pt x="0" y="1005840"/>
                  </a:lnTo>
                  <a:close/>
                </a:path>
              </a:pathLst>
            </a:custGeom>
            <a:blipFill>
              <a:blip r:embed="rId3">
                <a:alphaModFix amt="0"/>
              </a:blip>
              <a:stretch>
                <a:fillRect l="0" t="-64902" r="0" b="-64902"/>
              </a:stretch>
            </a:blipFill>
          </p:spPr>
        </p:sp>
        <p:sp>
          <p:nvSpPr>
            <p:cNvPr name="TextBox 56" id="56"/>
            <p:cNvSpPr txBox="true"/>
            <p:nvPr/>
          </p:nvSpPr>
          <p:spPr>
            <a:xfrm>
              <a:off x="0" y="-28575"/>
              <a:ext cx="5931408" cy="1034415"/>
            </a:xfrm>
            <a:prstGeom prst="rect">
              <a:avLst/>
            </a:prstGeom>
          </p:spPr>
          <p:txBody>
            <a:bodyPr anchor="ctr" rtlCol="false" tIns="0" lIns="0" bIns="0" rIns="0"/>
            <a:lstStyle/>
            <a:p>
              <a:pPr algn="l">
                <a:lnSpc>
                  <a:spcPts val="2835"/>
                </a:lnSpc>
              </a:pPr>
              <a:r>
                <a:rPr lang="en-US" sz="2250" b="true">
                  <a:solidFill>
                    <a:srgbClr val="1E1E24"/>
                  </a:solidFill>
                  <a:latin typeface="Arial Bold"/>
                  <a:ea typeface="Arial Bold"/>
                  <a:cs typeface="Arial Bold"/>
                  <a:sym typeface="Arial Bold"/>
                </a:rPr>
                <a:t>Defect Radar</a:t>
              </a:r>
            </a:p>
          </p:txBody>
        </p:sp>
      </p:grpSp>
      <p:grpSp>
        <p:nvGrpSpPr>
          <p:cNvPr name="Group 57" id="57"/>
          <p:cNvGrpSpPr/>
          <p:nvPr/>
        </p:nvGrpSpPr>
        <p:grpSpPr>
          <a:xfrm rot="0">
            <a:off x="12600432" y="4869180"/>
            <a:ext cx="4448556" cy="1277078"/>
            <a:chOff x="0" y="0"/>
            <a:chExt cx="5931408" cy="1702770"/>
          </a:xfrm>
        </p:grpSpPr>
        <p:sp>
          <p:nvSpPr>
            <p:cNvPr name="Freeform 58" id="58"/>
            <p:cNvSpPr/>
            <p:nvPr/>
          </p:nvSpPr>
          <p:spPr>
            <a:xfrm flipH="false" flipV="false" rot="0">
              <a:off x="0" y="0"/>
              <a:ext cx="5931408" cy="1702770"/>
            </a:xfrm>
            <a:custGeom>
              <a:avLst/>
              <a:gdLst/>
              <a:ahLst/>
              <a:cxnLst/>
              <a:rect r="r" b="b" t="t" l="l"/>
              <a:pathLst>
                <a:path h="1702770" w="5931408">
                  <a:moveTo>
                    <a:pt x="0" y="0"/>
                  </a:moveTo>
                  <a:lnTo>
                    <a:pt x="5931408" y="0"/>
                  </a:lnTo>
                  <a:lnTo>
                    <a:pt x="5931408" y="1702770"/>
                  </a:lnTo>
                  <a:lnTo>
                    <a:pt x="0" y="1702770"/>
                  </a:lnTo>
                  <a:close/>
                </a:path>
              </a:pathLst>
            </a:custGeom>
            <a:blipFill>
              <a:blip r:embed="rId3">
                <a:alphaModFix amt="0"/>
              </a:blip>
              <a:stretch>
                <a:fillRect l="0" t="-22228" r="0" b="-13519"/>
              </a:stretch>
            </a:blipFill>
          </p:spPr>
        </p:sp>
        <p:sp>
          <p:nvSpPr>
            <p:cNvPr name="TextBox 59" id="59"/>
            <p:cNvSpPr txBox="true"/>
            <p:nvPr/>
          </p:nvSpPr>
          <p:spPr>
            <a:xfrm>
              <a:off x="0" y="-66675"/>
              <a:ext cx="5931408" cy="1769445"/>
            </a:xfrm>
            <a:prstGeom prst="rect">
              <a:avLst/>
            </a:prstGeom>
          </p:spPr>
          <p:txBody>
            <a:bodyPr anchor="ctr" rtlCol="false" tIns="0" lIns="0" bIns="0" rIns="0"/>
            <a:lstStyle/>
            <a:p>
              <a:pPr algn="l">
                <a:lnSpc>
                  <a:spcPts val="2488"/>
                </a:lnSpc>
              </a:pPr>
              <a:r>
                <a:rPr lang="en-US" sz="1620">
                  <a:solidFill>
                    <a:srgbClr val="6B6B76"/>
                  </a:solidFill>
                  <a:latin typeface="Arial"/>
                  <a:ea typeface="Arial"/>
                  <a:cs typeface="Arial"/>
                  <a:sym typeface="Arial"/>
                </a:rPr>
                <a:t>Every vehicle carries a rolling risk score built from the process parameters it passed through, flagging it for a targeted check at the next gate not at the end of the line.</a:t>
              </a:r>
            </a:p>
          </p:txBody>
        </p:sp>
      </p:grpSp>
      <p:grpSp>
        <p:nvGrpSpPr>
          <p:cNvPr name="Group 60" id="60"/>
          <p:cNvGrpSpPr/>
          <p:nvPr/>
        </p:nvGrpSpPr>
        <p:grpSpPr>
          <a:xfrm rot="0">
            <a:off x="822960" y="6515100"/>
            <a:ext cx="16637508" cy="670741"/>
            <a:chOff x="0" y="0"/>
            <a:chExt cx="22183344" cy="894321"/>
          </a:xfrm>
        </p:grpSpPr>
        <p:sp>
          <p:nvSpPr>
            <p:cNvPr name="Freeform 61" id="61"/>
            <p:cNvSpPr/>
            <p:nvPr/>
          </p:nvSpPr>
          <p:spPr>
            <a:xfrm flipH="false" flipV="false" rot="0">
              <a:off x="0" y="0"/>
              <a:ext cx="22183344" cy="894321"/>
            </a:xfrm>
            <a:custGeom>
              <a:avLst/>
              <a:gdLst/>
              <a:ahLst/>
              <a:cxnLst/>
              <a:rect r="r" b="b" t="t" l="l"/>
              <a:pathLst>
                <a:path h="894321" w="22183344">
                  <a:moveTo>
                    <a:pt x="0" y="0"/>
                  </a:moveTo>
                  <a:lnTo>
                    <a:pt x="22183344" y="0"/>
                  </a:lnTo>
                  <a:lnTo>
                    <a:pt x="22183344" y="894321"/>
                  </a:lnTo>
                  <a:lnTo>
                    <a:pt x="0" y="894321"/>
                  </a:lnTo>
                  <a:close/>
                </a:path>
              </a:pathLst>
            </a:custGeom>
            <a:blipFill>
              <a:blip r:embed="rId3">
                <a:alphaModFix amt="0"/>
              </a:blip>
              <a:stretch>
                <a:fillRect l="0" t="-442422" r="0" b="-424218"/>
              </a:stretch>
            </a:blipFill>
          </p:spPr>
        </p:sp>
        <p:sp>
          <p:nvSpPr>
            <p:cNvPr name="TextBox 62" id="62"/>
            <p:cNvSpPr txBox="true"/>
            <p:nvPr/>
          </p:nvSpPr>
          <p:spPr>
            <a:xfrm>
              <a:off x="0" y="-57150"/>
              <a:ext cx="22183344" cy="951471"/>
            </a:xfrm>
            <a:prstGeom prst="rect">
              <a:avLst/>
            </a:prstGeom>
          </p:spPr>
          <p:txBody>
            <a:bodyPr anchor="ctr" rtlCol="false" tIns="0" lIns="0" bIns="0" rIns="0"/>
            <a:lstStyle/>
            <a:p>
              <a:pPr algn="l">
                <a:lnSpc>
                  <a:spcPts val="2484"/>
                </a:lnSpc>
              </a:pPr>
              <a:r>
                <a:rPr lang="en-US" b="true" sz="1725" i="true">
                  <a:solidFill>
                    <a:srgbClr val="4A148C"/>
                  </a:solidFill>
                  <a:latin typeface="Arial Bold Italics"/>
                  <a:ea typeface="Arial Bold Italics"/>
                  <a:cs typeface="Arial Bold Italics"/>
                  <a:sym typeface="Arial Bold Italics"/>
                </a:rPr>
                <a:t>Verified result: </a:t>
              </a:r>
              <a:r>
                <a:rPr lang="en-US" sz="1725" i="true">
                  <a:solidFill>
                    <a:srgbClr val="1E1E24"/>
                  </a:solidFill>
                  <a:latin typeface="Arial Italics"/>
                  <a:ea typeface="Arial Italics"/>
                  <a:cs typeface="Arial Italics"/>
                  <a:sym typeface="Arial Italics"/>
                </a:rPr>
                <a:t>a comparable real time bottleneck detection approach improved Overall Equipment Effectiveness by over 30% in a one year pilot at an automotive powertrain assembly line. (• </a:t>
              </a:r>
              <a:r>
                <a:rPr lang="en-US" sz="1725" i="true" u="sng">
                  <a:solidFill>
                    <a:srgbClr val="1E1E24"/>
                  </a:solidFill>
                  <a:latin typeface="Arial Italics"/>
                  <a:ea typeface="Arial Italics"/>
                  <a:cs typeface="Arial Italics"/>
                  <a:sym typeface="Arial Italics"/>
                  <a:hlinkClick r:id="rId4" tooltip="https://doi.org/10.1109/SWC57546.2023.10449281"/>
                </a:rPr>
                <a:t>Zhang, X. et al. (2023), ResearchGate</a:t>
              </a:r>
              <a:r>
                <a:rPr lang="en-US" sz="1725">
                  <a:solidFill>
                    <a:srgbClr val="1E1E24"/>
                  </a:solidFill>
                  <a:latin typeface="Arial"/>
                  <a:ea typeface="Arial"/>
                  <a:cs typeface="Arial"/>
                  <a:sym typeface="Arial"/>
                </a:rPr>
                <a:t>)</a:t>
              </a:r>
            </a:p>
          </p:txBody>
        </p:sp>
      </p:grpSp>
      <p:grpSp>
        <p:nvGrpSpPr>
          <p:cNvPr name="Group 63" id="63"/>
          <p:cNvGrpSpPr/>
          <p:nvPr/>
        </p:nvGrpSpPr>
        <p:grpSpPr>
          <a:xfrm rot="0">
            <a:off x="754380" y="7385866"/>
            <a:ext cx="16637508" cy="2283914"/>
            <a:chOff x="0" y="0"/>
            <a:chExt cx="22183344" cy="3045219"/>
          </a:xfrm>
        </p:grpSpPr>
        <p:sp>
          <p:nvSpPr>
            <p:cNvPr name="Freeform 64" id="64"/>
            <p:cNvSpPr/>
            <p:nvPr/>
          </p:nvSpPr>
          <p:spPr>
            <a:xfrm flipH="false" flipV="false" rot="0">
              <a:off x="0" y="0"/>
              <a:ext cx="22183344" cy="3045219"/>
            </a:xfrm>
            <a:custGeom>
              <a:avLst/>
              <a:gdLst/>
              <a:ahLst/>
              <a:cxnLst/>
              <a:rect r="r" b="b" t="t" l="l"/>
              <a:pathLst>
                <a:path h="3045219" w="22183344">
                  <a:moveTo>
                    <a:pt x="0" y="168012"/>
                  </a:moveTo>
                  <a:cubicBezTo>
                    <a:pt x="0" y="75255"/>
                    <a:pt x="65532" y="0"/>
                    <a:pt x="146304" y="0"/>
                  </a:cubicBezTo>
                  <a:lnTo>
                    <a:pt x="22037039" y="0"/>
                  </a:lnTo>
                  <a:cubicBezTo>
                    <a:pt x="22117811" y="0"/>
                    <a:pt x="22183344" y="75255"/>
                    <a:pt x="22183344" y="168012"/>
                  </a:cubicBezTo>
                  <a:lnTo>
                    <a:pt x="22183344" y="2877207"/>
                  </a:lnTo>
                  <a:cubicBezTo>
                    <a:pt x="22183344" y="2969964"/>
                    <a:pt x="22117811" y="3045219"/>
                    <a:pt x="22037039" y="3045219"/>
                  </a:cubicBezTo>
                  <a:lnTo>
                    <a:pt x="146304" y="3045219"/>
                  </a:lnTo>
                  <a:cubicBezTo>
                    <a:pt x="65532" y="3045219"/>
                    <a:pt x="0" y="2969964"/>
                    <a:pt x="0" y="2877207"/>
                  </a:cubicBezTo>
                  <a:close/>
                </a:path>
              </a:pathLst>
            </a:custGeom>
            <a:solidFill>
              <a:srgbClr val="4A148C"/>
            </a:solidFill>
          </p:spPr>
        </p:sp>
      </p:grpSp>
      <p:grpSp>
        <p:nvGrpSpPr>
          <p:cNvPr name="Group 65" id="65"/>
          <p:cNvGrpSpPr/>
          <p:nvPr/>
        </p:nvGrpSpPr>
        <p:grpSpPr>
          <a:xfrm rot="0">
            <a:off x="1106805" y="7490641"/>
            <a:ext cx="10972800" cy="384048"/>
            <a:chOff x="0" y="0"/>
            <a:chExt cx="14630400" cy="512064"/>
          </a:xfrm>
        </p:grpSpPr>
        <p:sp>
          <p:nvSpPr>
            <p:cNvPr name="Freeform 66" id="66"/>
            <p:cNvSpPr/>
            <p:nvPr/>
          </p:nvSpPr>
          <p:spPr>
            <a:xfrm flipH="false" flipV="false" rot="0">
              <a:off x="0" y="0"/>
              <a:ext cx="14630400" cy="512064"/>
            </a:xfrm>
            <a:custGeom>
              <a:avLst/>
              <a:gdLst/>
              <a:ahLst/>
              <a:cxnLst/>
              <a:rect r="r" b="b" t="t" l="l"/>
              <a:pathLst>
                <a:path h="512064" w="14630400">
                  <a:moveTo>
                    <a:pt x="0" y="0"/>
                  </a:moveTo>
                  <a:lnTo>
                    <a:pt x="14630400" y="0"/>
                  </a:lnTo>
                  <a:lnTo>
                    <a:pt x="14630400" y="512064"/>
                  </a:lnTo>
                  <a:lnTo>
                    <a:pt x="0" y="512064"/>
                  </a:lnTo>
                  <a:close/>
                </a:path>
              </a:pathLst>
            </a:custGeom>
            <a:blipFill>
              <a:blip r:embed="rId3">
                <a:alphaModFix amt="0"/>
              </a:blip>
              <a:stretch>
                <a:fillRect l="0" t="-506715" r="0" b="-506715"/>
              </a:stretch>
            </a:blipFill>
          </p:spPr>
        </p:sp>
        <p:sp>
          <p:nvSpPr>
            <p:cNvPr name="TextBox 67" id="67"/>
            <p:cNvSpPr txBox="true"/>
            <p:nvPr/>
          </p:nvSpPr>
          <p:spPr>
            <a:xfrm>
              <a:off x="0" y="-9525"/>
              <a:ext cx="14630400" cy="521589"/>
            </a:xfrm>
            <a:prstGeom prst="rect">
              <a:avLst/>
            </a:prstGeom>
          </p:spPr>
          <p:txBody>
            <a:bodyPr anchor="ctr" rtlCol="false" tIns="0" lIns="0" bIns="0" rIns="0"/>
            <a:lstStyle/>
            <a:p>
              <a:pPr algn="l">
                <a:lnSpc>
                  <a:spcPts val="1889"/>
                </a:lnSpc>
              </a:pPr>
              <a:r>
                <a:rPr lang="en-US" b="true" sz="1575" spc="150">
                  <a:solidFill>
                    <a:srgbClr val="D9C4F5"/>
                  </a:solidFill>
                  <a:latin typeface="Arial Bold"/>
                  <a:ea typeface="Arial Bold"/>
                  <a:cs typeface="Arial Bold"/>
                  <a:sym typeface="Arial Bold"/>
                </a:rPr>
                <a:t>NO SENSORS? THREE WAYS WE INFER STATE ANYWAY</a:t>
              </a:r>
            </a:p>
          </p:txBody>
        </p:sp>
      </p:grpSp>
      <p:grpSp>
        <p:nvGrpSpPr>
          <p:cNvPr name="Group 68" id="68"/>
          <p:cNvGrpSpPr/>
          <p:nvPr/>
        </p:nvGrpSpPr>
        <p:grpSpPr>
          <a:xfrm rot="0">
            <a:off x="1234440" y="8017564"/>
            <a:ext cx="4997196" cy="411480"/>
            <a:chOff x="0" y="0"/>
            <a:chExt cx="6662928" cy="548640"/>
          </a:xfrm>
        </p:grpSpPr>
        <p:sp>
          <p:nvSpPr>
            <p:cNvPr name="Freeform 69" id="69"/>
            <p:cNvSpPr/>
            <p:nvPr/>
          </p:nvSpPr>
          <p:spPr>
            <a:xfrm flipH="false" flipV="false" rot="0">
              <a:off x="0" y="0"/>
              <a:ext cx="6662928" cy="548640"/>
            </a:xfrm>
            <a:custGeom>
              <a:avLst/>
              <a:gdLst/>
              <a:ahLst/>
              <a:cxnLst/>
              <a:rect r="r" b="b" t="t" l="l"/>
              <a:pathLst>
                <a:path h="548640" w="6662928">
                  <a:moveTo>
                    <a:pt x="0" y="0"/>
                  </a:moveTo>
                  <a:lnTo>
                    <a:pt x="6662928" y="0"/>
                  </a:lnTo>
                  <a:lnTo>
                    <a:pt x="6662928" y="548640"/>
                  </a:lnTo>
                  <a:lnTo>
                    <a:pt x="0" y="548640"/>
                  </a:lnTo>
                  <a:close/>
                </a:path>
              </a:pathLst>
            </a:custGeom>
            <a:blipFill>
              <a:blip r:embed="rId3">
                <a:alphaModFix amt="0"/>
              </a:blip>
              <a:stretch>
                <a:fillRect l="0" t="-186634" r="0" b="-186634"/>
              </a:stretch>
            </a:blipFill>
          </p:spPr>
        </p:sp>
        <p:sp>
          <p:nvSpPr>
            <p:cNvPr name="TextBox 70" id="70"/>
            <p:cNvSpPr txBox="true"/>
            <p:nvPr/>
          </p:nvSpPr>
          <p:spPr>
            <a:xfrm>
              <a:off x="0" y="-19050"/>
              <a:ext cx="6662928" cy="567690"/>
            </a:xfrm>
            <a:prstGeom prst="rect">
              <a:avLst/>
            </a:prstGeom>
          </p:spPr>
          <p:txBody>
            <a:bodyPr anchor="ctr" rtlCol="false" tIns="0" lIns="0" bIns="0" rIns="0"/>
            <a:lstStyle/>
            <a:p>
              <a:pPr algn="l">
                <a:lnSpc>
                  <a:spcPts val="2340"/>
                </a:lnSpc>
              </a:pPr>
              <a:r>
                <a:rPr lang="en-US" sz="1950" b="true">
                  <a:solidFill>
                    <a:srgbClr val="FFFFFF"/>
                  </a:solidFill>
                  <a:latin typeface="Arial Bold"/>
                  <a:ea typeface="Arial Bold"/>
                  <a:cs typeface="Arial Bold"/>
                  <a:sym typeface="Arial Bold"/>
                </a:rPr>
                <a:t>Neighbor inference</a:t>
              </a:r>
            </a:p>
          </p:txBody>
        </p:sp>
      </p:grpSp>
      <p:grpSp>
        <p:nvGrpSpPr>
          <p:cNvPr name="Group 71" id="71"/>
          <p:cNvGrpSpPr/>
          <p:nvPr/>
        </p:nvGrpSpPr>
        <p:grpSpPr>
          <a:xfrm rot="0">
            <a:off x="1106805" y="8565923"/>
            <a:ext cx="4997196" cy="754380"/>
            <a:chOff x="0" y="0"/>
            <a:chExt cx="6662928" cy="1005840"/>
          </a:xfrm>
        </p:grpSpPr>
        <p:sp>
          <p:nvSpPr>
            <p:cNvPr name="Freeform 72" id="72"/>
            <p:cNvSpPr/>
            <p:nvPr/>
          </p:nvSpPr>
          <p:spPr>
            <a:xfrm flipH="false" flipV="false" rot="0">
              <a:off x="0" y="0"/>
              <a:ext cx="6662928" cy="1005840"/>
            </a:xfrm>
            <a:custGeom>
              <a:avLst/>
              <a:gdLst/>
              <a:ahLst/>
              <a:cxnLst/>
              <a:rect r="r" b="b" t="t" l="l"/>
              <a:pathLst>
                <a:path h="1005840" w="6662928">
                  <a:moveTo>
                    <a:pt x="0" y="0"/>
                  </a:moveTo>
                  <a:lnTo>
                    <a:pt x="6662928" y="0"/>
                  </a:lnTo>
                  <a:lnTo>
                    <a:pt x="6662928" y="1005840"/>
                  </a:lnTo>
                  <a:lnTo>
                    <a:pt x="0" y="1005840"/>
                  </a:lnTo>
                  <a:close/>
                </a:path>
              </a:pathLst>
            </a:custGeom>
            <a:blipFill>
              <a:blip r:embed="rId3">
                <a:alphaModFix amt="0"/>
              </a:blip>
              <a:stretch>
                <a:fillRect l="0" t="-79073" r="0" b="-79073"/>
              </a:stretch>
            </a:blipFill>
          </p:spPr>
        </p:sp>
        <p:sp>
          <p:nvSpPr>
            <p:cNvPr name="TextBox 73" id="73"/>
            <p:cNvSpPr txBox="true"/>
            <p:nvPr/>
          </p:nvSpPr>
          <p:spPr>
            <a:xfrm>
              <a:off x="0" y="-66675"/>
              <a:ext cx="6662928" cy="1072515"/>
            </a:xfrm>
            <a:prstGeom prst="rect">
              <a:avLst/>
            </a:prstGeom>
          </p:spPr>
          <p:txBody>
            <a:bodyPr anchor="ctr" rtlCol="false" tIns="0" lIns="0" bIns="0" rIns="0"/>
            <a:lstStyle/>
            <a:p>
              <a:pPr algn="l">
                <a:lnSpc>
                  <a:spcPts val="2692"/>
                </a:lnSpc>
              </a:pPr>
              <a:r>
                <a:rPr lang="en-US" sz="1869">
                  <a:solidFill>
                    <a:srgbClr val="E4D7F5"/>
                  </a:solidFill>
                  <a:latin typeface="Arial"/>
                  <a:ea typeface="Arial"/>
                  <a:cs typeface="Arial"/>
                  <a:sym typeface="Arial"/>
                </a:rPr>
                <a:t>Infer an unmonitored station's state from the flow rate of the stations flanking it</a:t>
              </a:r>
            </a:p>
          </p:txBody>
        </p:sp>
      </p:grpSp>
      <p:grpSp>
        <p:nvGrpSpPr>
          <p:cNvPr name="Group 74" id="74"/>
          <p:cNvGrpSpPr/>
          <p:nvPr/>
        </p:nvGrpSpPr>
        <p:grpSpPr>
          <a:xfrm rot="0">
            <a:off x="6798564" y="8017564"/>
            <a:ext cx="4997196" cy="411480"/>
            <a:chOff x="0" y="0"/>
            <a:chExt cx="6662928" cy="548640"/>
          </a:xfrm>
        </p:grpSpPr>
        <p:sp>
          <p:nvSpPr>
            <p:cNvPr name="Freeform 75" id="75"/>
            <p:cNvSpPr/>
            <p:nvPr/>
          </p:nvSpPr>
          <p:spPr>
            <a:xfrm flipH="false" flipV="false" rot="0">
              <a:off x="0" y="0"/>
              <a:ext cx="6662928" cy="548640"/>
            </a:xfrm>
            <a:custGeom>
              <a:avLst/>
              <a:gdLst/>
              <a:ahLst/>
              <a:cxnLst/>
              <a:rect r="r" b="b" t="t" l="l"/>
              <a:pathLst>
                <a:path h="548640" w="6662928">
                  <a:moveTo>
                    <a:pt x="0" y="0"/>
                  </a:moveTo>
                  <a:lnTo>
                    <a:pt x="6662928" y="0"/>
                  </a:lnTo>
                  <a:lnTo>
                    <a:pt x="6662928" y="548640"/>
                  </a:lnTo>
                  <a:lnTo>
                    <a:pt x="0" y="548640"/>
                  </a:lnTo>
                  <a:close/>
                </a:path>
              </a:pathLst>
            </a:custGeom>
            <a:blipFill>
              <a:blip r:embed="rId3">
                <a:alphaModFix amt="0"/>
              </a:blip>
              <a:stretch>
                <a:fillRect l="0" t="-186634" r="0" b="-186634"/>
              </a:stretch>
            </a:blipFill>
          </p:spPr>
        </p:sp>
        <p:sp>
          <p:nvSpPr>
            <p:cNvPr name="TextBox 76" id="76"/>
            <p:cNvSpPr txBox="true"/>
            <p:nvPr/>
          </p:nvSpPr>
          <p:spPr>
            <a:xfrm>
              <a:off x="0" y="-19050"/>
              <a:ext cx="6662928" cy="567690"/>
            </a:xfrm>
            <a:prstGeom prst="rect">
              <a:avLst/>
            </a:prstGeom>
          </p:spPr>
          <p:txBody>
            <a:bodyPr anchor="ctr" rtlCol="false" tIns="0" lIns="0" bIns="0" rIns="0"/>
            <a:lstStyle/>
            <a:p>
              <a:pPr algn="l">
                <a:lnSpc>
                  <a:spcPts val="2340"/>
                </a:lnSpc>
              </a:pPr>
              <a:r>
                <a:rPr lang="en-US" sz="1950" b="true">
                  <a:solidFill>
                    <a:srgbClr val="FFFFFF"/>
                  </a:solidFill>
                  <a:latin typeface="Arial Bold"/>
                  <a:ea typeface="Arial Bold"/>
                  <a:cs typeface="Arial Bold"/>
                  <a:sym typeface="Arial Bold"/>
                </a:rPr>
                <a:t>Soft sensors</a:t>
              </a:r>
            </a:p>
          </p:txBody>
        </p:sp>
      </p:grpSp>
      <p:grpSp>
        <p:nvGrpSpPr>
          <p:cNvPr name="Group 77" id="77"/>
          <p:cNvGrpSpPr/>
          <p:nvPr/>
        </p:nvGrpSpPr>
        <p:grpSpPr>
          <a:xfrm rot="0">
            <a:off x="6647879" y="8565923"/>
            <a:ext cx="4997196" cy="754380"/>
            <a:chOff x="0" y="0"/>
            <a:chExt cx="6662928" cy="1005840"/>
          </a:xfrm>
        </p:grpSpPr>
        <p:sp>
          <p:nvSpPr>
            <p:cNvPr name="Freeform 78" id="78"/>
            <p:cNvSpPr/>
            <p:nvPr/>
          </p:nvSpPr>
          <p:spPr>
            <a:xfrm flipH="false" flipV="false" rot="0">
              <a:off x="0" y="0"/>
              <a:ext cx="6662928" cy="1005840"/>
            </a:xfrm>
            <a:custGeom>
              <a:avLst/>
              <a:gdLst/>
              <a:ahLst/>
              <a:cxnLst/>
              <a:rect r="r" b="b" t="t" l="l"/>
              <a:pathLst>
                <a:path h="1005840" w="6662928">
                  <a:moveTo>
                    <a:pt x="0" y="0"/>
                  </a:moveTo>
                  <a:lnTo>
                    <a:pt x="6662928" y="0"/>
                  </a:lnTo>
                  <a:lnTo>
                    <a:pt x="6662928" y="1005840"/>
                  </a:lnTo>
                  <a:lnTo>
                    <a:pt x="0" y="1005840"/>
                  </a:lnTo>
                  <a:close/>
                </a:path>
              </a:pathLst>
            </a:custGeom>
            <a:blipFill>
              <a:blip r:embed="rId3">
                <a:alphaModFix amt="0"/>
              </a:blip>
              <a:stretch>
                <a:fillRect l="0" t="-79073" r="0" b="-79073"/>
              </a:stretch>
            </a:blipFill>
          </p:spPr>
        </p:sp>
        <p:sp>
          <p:nvSpPr>
            <p:cNvPr name="TextBox 79" id="79"/>
            <p:cNvSpPr txBox="true"/>
            <p:nvPr/>
          </p:nvSpPr>
          <p:spPr>
            <a:xfrm>
              <a:off x="0" y="-66675"/>
              <a:ext cx="6662928" cy="1072515"/>
            </a:xfrm>
            <a:prstGeom prst="rect">
              <a:avLst/>
            </a:prstGeom>
          </p:spPr>
          <p:txBody>
            <a:bodyPr anchor="ctr" rtlCol="false" tIns="0" lIns="0" bIns="0" rIns="0"/>
            <a:lstStyle/>
            <a:p>
              <a:pPr algn="l">
                <a:lnSpc>
                  <a:spcPts val="2692"/>
                </a:lnSpc>
              </a:pPr>
              <a:r>
                <a:rPr lang="en-US" sz="1869">
                  <a:solidFill>
                    <a:srgbClr val="E4D7F5"/>
                  </a:solidFill>
                  <a:latin typeface="Arial"/>
                  <a:ea typeface="Arial"/>
                  <a:cs typeface="Arial"/>
                  <a:sym typeface="Arial"/>
                </a:rPr>
                <a:t>Power draw, a basic camera feed, or a single accelerometer stand in for a dedicated sensor</a:t>
              </a:r>
            </a:p>
          </p:txBody>
        </p:sp>
      </p:grpSp>
      <p:grpSp>
        <p:nvGrpSpPr>
          <p:cNvPr name="Group 80" id="80"/>
          <p:cNvGrpSpPr/>
          <p:nvPr/>
        </p:nvGrpSpPr>
        <p:grpSpPr>
          <a:xfrm rot="0">
            <a:off x="12179427" y="8017564"/>
            <a:ext cx="4997196" cy="411480"/>
            <a:chOff x="0" y="0"/>
            <a:chExt cx="6662928" cy="548640"/>
          </a:xfrm>
        </p:grpSpPr>
        <p:sp>
          <p:nvSpPr>
            <p:cNvPr name="Freeform 81" id="81"/>
            <p:cNvSpPr/>
            <p:nvPr/>
          </p:nvSpPr>
          <p:spPr>
            <a:xfrm flipH="false" flipV="false" rot="0">
              <a:off x="0" y="0"/>
              <a:ext cx="6662928" cy="548640"/>
            </a:xfrm>
            <a:custGeom>
              <a:avLst/>
              <a:gdLst/>
              <a:ahLst/>
              <a:cxnLst/>
              <a:rect r="r" b="b" t="t" l="l"/>
              <a:pathLst>
                <a:path h="548640" w="6662928">
                  <a:moveTo>
                    <a:pt x="0" y="0"/>
                  </a:moveTo>
                  <a:lnTo>
                    <a:pt x="6662928" y="0"/>
                  </a:lnTo>
                  <a:lnTo>
                    <a:pt x="6662928" y="548640"/>
                  </a:lnTo>
                  <a:lnTo>
                    <a:pt x="0" y="548640"/>
                  </a:lnTo>
                  <a:close/>
                </a:path>
              </a:pathLst>
            </a:custGeom>
            <a:blipFill>
              <a:blip r:embed="rId3">
                <a:alphaModFix amt="0"/>
              </a:blip>
              <a:stretch>
                <a:fillRect l="0" t="-186634" r="0" b="-186634"/>
              </a:stretch>
            </a:blipFill>
          </p:spPr>
        </p:sp>
        <p:sp>
          <p:nvSpPr>
            <p:cNvPr name="TextBox 82" id="82"/>
            <p:cNvSpPr txBox="true"/>
            <p:nvPr/>
          </p:nvSpPr>
          <p:spPr>
            <a:xfrm>
              <a:off x="0" y="-19050"/>
              <a:ext cx="6662928" cy="567690"/>
            </a:xfrm>
            <a:prstGeom prst="rect">
              <a:avLst/>
            </a:prstGeom>
          </p:spPr>
          <p:txBody>
            <a:bodyPr anchor="ctr" rtlCol="false" tIns="0" lIns="0" bIns="0" rIns="0"/>
            <a:lstStyle/>
            <a:p>
              <a:pPr algn="l">
                <a:lnSpc>
                  <a:spcPts val="2340"/>
                </a:lnSpc>
              </a:pPr>
              <a:r>
                <a:rPr lang="en-US" sz="1950" b="true">
                  <a:solidFill>
                    <a:srgbClr val="FFFFFF"/>
                  </a:solidFill>
                  <a:latin typeface="Arial Bold"/>
                  <a:ea typeface="Arial Bold"/>
                  <a:cs typeface="Arial Bold"/>
                  <a:sym typeface="Arial Bold"/>
                </a:rPr>
                <a:t>Uncertainty modeling</a:t>
              </a:r>
            </a:p>
          </p:txBody>
        </p:sp>
      </p:grpSp>
      <p:grpSp>
        <p:nvGrpSpPr>
          <p:cNvPr name="Group 83" id="83"/>
          <p:cNvGrpSpPr/>
          <p:nvPr/>
        </p:nvGrpSpPr>
        <p:grpSpPr>
          <a:xfrm rot="0">
            <a:off x="12188952" y="8565923"/>
            <a:ext cx="4997196" cy="1045753"/>
            <a:chOff x="0" y="0"/>
            <a:chExt cx="6662928" cy="1394338"/>
          </a:xfrm>
        </p:grpSpPr>
        <p:sp>
          <p:nvSpPr>
            <p:cNvPr name="Freeform 84" id="84"/>
            <p:cNvSpPr/>
            <p:nvPr/>
          </p:nvSpPr>
          <p:spPr>
            <a:xfrm flipH="false" flipV="false" rot="0">
              <a:off x="0" y="0"/>
              <a:ext cx="6662928" cy="1394338"/>
            </a:xfrm>
            <a:custGeom>
              <a:avLst/>
              <a:gdLst/>
              <a:ahLst/>
              <a:cxnLst/>
              <a:rect r="r" b="b" t="t" l="l"/>
              <a:pathLst>
                <a:path h="1394338" w="6662928">
                  <a:moveTo>
                    <a:pt x="0" y="0"/>
                  </a:moveTo>
                  <a:lnTo>
                    <a:pt x="6662928" y="0"/>
                  </a:lnTo>
                  <a:lnTo>
                    <a:pt x="6662928" y="1394338"/>
                  </a:lnTo>
                  <a:lnTo>
                    <a:pt x="0" y="1394338"/>
                  </a:lnTo>
                  <a:close/>
                </a:path>
              </a:pathLst>
            </a:custGeom>
            <a:blipFill>
              <a:blip r:embed="rId3">
                <a:alphaModFix amt="0"/>
              </a:blip>
              <a:stretch>
                <a:fillRect l="0" t="-57041" r="0" b="-29179"/>
              </a:stretch>
            </a:blipFill>
          </p:spPr>
        </p:sp>
        <p:sp>
          <p:nvSpPr>
            <p:cNvPr name="TextBox 85" id="85"/>
            <p:cNvSpPr txBox="true"/>
            <p:nvPr/>
          </p:nvSpPr>
          <p:spPr>
            <a:xfrm>
              <a:off x="0" y="-66675"/>
              <a:ext cx="6662928" cy="1461013"/>
            </a:xfrm>
            <a:prstGeom prst="rect">
              <a:avLst/>
            </a:prstGeom>
          </p:spPr>
          <p:txBody>
            <a:bodyPr anchor="ctr" rtlCol="false" tIns="0" lIns="0" bIns="0" rIns="0"/>
            <a:lstStyle/>
            <a:p>
              <a:pPr algn="l">
                <a:lnSpc>
                  <a:spcPts val="2692"/>
                </a:lnSpc>
              </a:pPr>
              <a:r>
                <a:rPr lang="en-US" sz="1869">
                  <a:solidFill>
                    <a:srgbClr val="E4D7F5"/>
                  </a:solidFill>
                  <a:latin typeface="Arial"/>
                  <a:ea typeface="Arial"/>
                  <a:cs typeface="Arial"/>
                  <a:sym typeface="Arial"/>
                </a:rPr>
                <a:t>Unmonitored stations are shown as a probability, not a false certainty  e.g., ‘68% likely normal, 32% running slow’</a:t>
              </a:r>
            </a:p>
          </p:txBody>
        </p:sp>
      </p:grpSp>
      <p:grpSp>
        <p:nvGrpSpPr>
          <p:cNvPr name="Group 86" id="86"/>
          <p:cNvGrpSpPr/>
          <p:nvPr/>
        </p:nvGrpSpPr>
        <p:grpSpPr>
          <a:xfrm rot="0">
            <a:off x="822960" y="9738360"/>
            <a:ext cx="16637508" cy="438912"/>
            <a:chOff x="0" y="0"/>
            <a:chExt cx="22183344" cy="585216"/>
          </a:xfrm>
        </p:grpSpPr>
        <p:sp>
          <p:nvSpPr>
            <p:cNvPr name="Freeform 87" id="87"/>
            <p:cNvSpPr/>
            <p:nvPr/>
          </p:nvSpPr>
          <p:spPr>
            <a:xfrm flipH="false" flipV="false" rot="0">
              <a:off x="0" y="0"/>
              <a:ext cx="22183344" cy="585216"/>
            </a:xfrm>
            <a:custGeom>
              <a:avLst/>
              <a:gdLst/>
              <a:ahLst/>
              <a:cxnLst/>
              <a:rect r="r" b="b" t="t" l="l"/>
              <a:pathLst>
                <a:path h="585216" w="22183344">
                  <a:moveTo>
                    <a:pt x="0" y="0"/>
                  </a:moveTo>
                  <a:lnTo>
                    <a:pt x="22183344" y="0"/>
                  </a:lnTo>
                  <a:lnTo>
                    <a:pt x="22183344" y="585216"/>
                  </a:lnTo>
                  <a:lnTo>
                    <a:pt x="0" y="585216"/>
                  </a:lnTo>
                  <a:close/>
                </a:path>
              </a:pathLst>
            </a:custGeom>
            <a:blipFill>
              <a:blip r:embed="rId3">
                <a:alphaModFix amt="0"/>
              </a:blip>
              <a:stretch>
                <a:fillRect l="0" t="-688604" r="0" b="-688604"/>
              </a:stretch>
            </a:blipFill>
          </p:spPr>
        </p:sp>
        <p:sp>
          <p:nvSpPr>
            <p:cNvPr name="TextBox 88" id="88"/>
            <p:cNvSpPr txBox="true"/>
            <p:nvPr/>
          </p:nvSpPr>
          <p:spPr>
            <a:xfrm>
              <a:off x="0" y="-19050"/>
              <a:ext cx="22183344" cy="604266"/>
            </a:xfrm>
            <a:prstGeom prst="rect">
              <a:avLst/>
            </a:prstGeom>
          </p:spPr>
          <p:txBody>
            <a:bodyPr anchor="ctr" rtlCol="false" tIns="0" lIns="0" bIns="0" rIns="0"/>
            <a:lstStyle/>
            <a:p>
              <a:pPr algn="l">
                <a:lnSpc>
                  <a:spcPts val="1530"/>
                </a:lnSpc>
              </a:pPr>
              <a:r>
                <a:rPr lang="en-US" sz="1275" i="true">
                  <a:solidFill>
                    <a:srgbClr val="6B6B76"/>
                  </a:solidFill>
                  <a:latin typeface="Arial Italics"/>
                  <a:ea typeface="Arial Italics"/>
                  <a:cs typeface="Arial Italics"/>
                  <a:sym typeface="Arial Italics"/>
                </a:rPr>
                <a:t>Sources: </a:t>
              </a:r>
              <a:r>
                <a:rPr lang="en-US" sz="1275" i="true" u="sng">
                  <a:solidFill>
                    <a:srgbClr val="6B6B76"/>
                  </a:solidFill>
                  <a:latin typeface="Arial Italics"/>
                  <a:ea typeface="Arial Italics"/>
                  <a:cs typeface="Arial Italics"/>
                  <a:sym typeface="Arial Italics"/>
                  <a:hlinkClick r:id="rId5" tooltip="https://www.sciencedirect.com/science/article/pii/S0360835224003528"/>
                </a:rPr>
                <a:t>Lugaresi, G., Matta, A., Ragazzini, L. et al. (2024), “Digital Twin-based bottleneck prediction for improved production control”, Computers &amp; Industrial Engineering</a:t>
              </a:r>
              <a:r>
                <a:rPr lang="en-US" sz="1275" i="true">
                  <a:solidFill>
                    <a:srgbClr val="6B6B76"/>
                  </a:solidFill>
                  <a:latin typeface="Arial Italics"/>
                  <a:ea typeface="Arial Italics"/>
                  <a:cs typeface="Arial Italics"/>
                  <a:sym typeface="Arial Italics"/>
                </a:rPr>
                <a:t>  •  </a:t>
              </a:r>
              <a:r>
                <a:rPr lang="en-US" sz="1275" i="true" u="sng">
                  <a:solidFill>
                    <a:srgbClr val="6B6B76"/>
                  </a:solidFill>
                  <a:latin typeface="Arial Italics"/>
                  <a:ea typeface="Arial Italics"/>
                  <a:cs typeface="Arial Italics"/>
                  <a:sym typeface="Arial Italics"/>
                  <a:hlinkClick r:id="rId6" tooltip="https://doi.org/10.1109/SWC57546.2023.10449281"/>
                </a:rPr>
                <a:t>Zhang, X. et al. (2023), ResearchGate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4598" y="534924"/>
            <a:ext cx="5545836" cy="493776"/>
            <a:chOff x="0" y="0"/>
            <a:chExt cx="7394448" cy="658368"/>
          </a:xfrm>
        </p:grpSpPr>
        <p:sp>
          <p:nvSpPr>
            <p:cNvPr name="Freeform 3" id="3"/>
            <p:cNvSpPr/>
            <p:nvPr/>
          </p:nvSpPr>
          <p:spPr>
            <a:xfrm flipH="false" flipV="false" rot="0">
              <a:off x="0" y="0"/>
              <a:ext cx="7394448" cy="658368"/>
            </a:xfrm>
            <a:custGeom>
              <a:avLst/>
              <a:gdLst/>
              <a:ahLst/>
              <a:cxnLst/>
              <a:rect r="r" b="b" t="t" l="l"/>
              <a:pathLst>
                <a:path h="658368" w="7394448">
                  <a:moveTo>
                    <a:pt x="0" y="0"/>
                  </a:moveTo>
                  <a:lnTo>
                    <a:pt x="7394448" y="0"/>
                  </a:lnTo>
                  <a:lnTo>
                    <a:pt x="7394448" y="658368"/>
                  </a:lnTo>
                  <a:lnTo>
                    <a:pt x="0" y="658368"/>
                  </a:lnTo>
                  <a:close/>
                </a:path>
              </a:pathLst>
            </a:custGeom>
            <a:blipFill>
              <a:blip r:embed="rId3">
                <a:alphaModFix amt="0"/>
              </a:blip>
              <a:stretch>
                <a:fillRect l="0" t="-168845" r="0" b="-168845"/>
              </a:stretch>
            </a:blipFill>
          </p:spPr>
        </p:sp>
        <p:sp>
          <p:nvSpPr>
            <p:cNvPr name="TextBox 4" id="4"/>
            <p:cNvSpPr txBox="true"/>
            <p:nvPr/>
          </p:nvSpPr>
          <p:spPr>
            <a:xfrm>
              <a:off x="0" y="-28575"/>
              <a:ext cx="7394448" cy="686943"/>
            </a:xfrm>
            <a:prstGeom prst="rect">
              <a:avLst/>
            </a:prstGeom>
          </p:spPr>
          <p:txBody>
            <a:bodyPr anchor="ctr" rtlCol="false" tIns="0" lIns="0" bIns="0" rIns="0"/>
            <a:lstStyle/>
            <a:p>
              <a:pPr algn="ctr">
                <a:lnSpc>
                  <a:spcPts val="2250"/>
                </a:lnSpc>
              </a:pPr>
              <a:r>
                <a:rPr lang="en-US" sz="1875">
                  <a:solidFill>
                    <a:srgbClr val="A8A8B2"/>
                  </a:solidFill>
                  <a:latin typeface="Arial"/>
                  <a:ea typeface="Arial"/>
                  <a:cs typeface="Arial"/>
                  <a:sym typeface="Arial"/>
                </a:rPr>
                <a:t>Problem Analysis</a:t>
              </a:r>
            </a:p>
          </p:txBody>
        </p:sp>
      </p:grpSp>
      <p:grpSp>
        <p:nvGrpSpPr>
          <p:cNvPr name="Group 5" id="5"/>
          <p:cNvGrpSpPr/>
          <p:nvPr/>
        </p:nvGrpSpPr>
        <p:grpSpPr>
          <a:xfrm rot="0">
            <a:off x="13442316" y="534924"/>
            <a:ext cx="3154680" cy="493776"/>
            <a:chOff x="0" y="0"/>
            <a:chExt cx="4206240" cy="658368"/>
          </a:xfrm>
        </p:grpSpPr>
        <p:sp>
          <p:nvSpPr>
            <p:cNvPr name="Freeform 6" id="6"/>
            <p:cNvSpPr/>
            <p:nvPr/>
          </p:nvSpPr>
          <p:spPr>
            <a:xfrm flipH="false" flipV="false" rot="0">
              <a:off x="0" y="0"/>
              <a:ext cx="4206240" cy="658368"/>
            </a:xfrm>
            <a:custGeom>
              <a:avLst/>
              <a:gdLst/>
              <a:ahLst/>
              <a:cxnLst/>
              <a:rect r="r" b="b" t="t" l="l"/>
              <a:pathLst>
                <a:path h="658368" w="4206240">
                  <a:moveTo>
                    <a:pt x="0" y="329184"/>
                  </a:moveTo>
                  <a:cubicBezTo>
                    <a:pt x="0" y="147320"/>
                    <a:pt x="147320" y="0"/>
                    <a:pt x="329184" y="0"/>
                  </a:cubicBezTo>
                  <a:lnTo>
                    <a:pt x="3877056" y="0"/>
                  </a:lnTo>
                  <a:cubicBezTo>
                    <a:pt x="4058920" y="0"/>
                    <a:pt x="4206240" y="147320"/>
                    <a:pt x="4206240" y="329184"/>
                  </a:cubicBezTo>
                  <a:cubicBezTo>
                    <a:pt x="4206240" y="511048"/>
                    <a:pt x="4058920" y="658368"/>
                    <a:pt x="3877056" y="658368"/>
                  </a:cubicBezTo>
                  <a:lnTo>
                    <a:pt x="329184" y="658368"/>
                  </a:lnTo>
                  <a:cubicBezTo>
                    <a:pt x="147320" y="658368"/>
                    <a:pt x="0" y="511048"/>
                    <a:pt x="0" y="329184"/>
                  </a:cubicBezTo>
                  <a:close/>
                </a:path>
              </a:pathLst>
            </a:custGeom>
            <a:solidFill>
              <a:srgbClr val="F2ECFB"/>
            </a:solidFill>
          </p:spPr>
        </p:sp>
      </p:grpSp>
      <p:grpSp>
        <p:nvGrpSpPr>
          <p:cNvPr name="Group 7" id="7"/>
          <p:cNvGrpSpPr/>
          <p:nvPr/>
        </p:nvGrpSpPr>
        <p:grpSpPr>
          <a:xfrm rot="0">
            <a:off x="12246738" y="534924"/>
            <a:ext cx="5545836" cy="493776"/>
            <a:chOff x="0" y="0"/>
            <a:chExt cx="7394448" cy="658368"/>
          </a:xfrm>
        </p:grpSpPr>
        <p:sp>
          <p:nvSpPr>
            <p:cNvPr name="Freeform 8" id="8"/>
            <p:cNvSpPr/>
            <p:nvPr/>
          </p:nvSpPr>
          <p:spPr>
            <a:xfrm flipH="false" flipV="false" rot="0">
              <a:off x="0" y="0"/>
              <a:ext cx="7394448" cy="658368"/>
            </a:xfrm>
            <a:custGeom>
              <a:avLst/>
              <a:gdLst/>
              <a:ahLst/>
              <a:cxnLst/>
              <a:rect r="r" b="b" t="t" l="l"/>
              <a:pathLst>
                <a:path h="658368" w="7394448">
                  <a:moveTo>
                    <a:pt x="0" y="0"/>
                  </a:moveTo>
                  <a:lnTo>
                    <a:pt x="7394448" y="0"/>
                  </a:lnTo>
                  <a:lnTo>
                    <a:pt x="7394448" y="658368"/>
                  </a:lnTo>
                  <a:lnTo>
                    <a:pt x="0" y="658368"/>
                  </a:lnTo>
                  <a:close/>
                </a:path>
              </a:pathLst>
            </a:custGeom>
            <a:blipFill>
              <a:blip r:embed="rId3">
                <a:alphaModFix amt="0"/>
              </a:blip>
              <a:stretch>
                <a:fillRect l="0" t="-168845" r="0" b="-168845"/>
              </a:stretch>
            </a:blipFill>
          </p:spPr>
        </p:sp>
        <p:sp>
          <p:nvSpPr>
            <p:cNvPr name="TextBox 9" id="9"/>
            <p:cNvSpPr txBox="true"/>
            <p:nvPr/>
          </p:nvSpPr>
          <p:spPr>
            <a:xfrm>
              <a:off x="0" y="-28575"/>
              <a:ext cx="7394448" cy="686943"/>
            </a:xfrm>
            <a:prstGeom prst="rect">
              <a:avLst/>
            </a:prstGeom>
          </p:spPr>
          <p:txBody>
            <a:bodyPr anchor="ctr" rtlCol="false" tIns="0" lIns="0" bIns="0" rIns="0"/>
            <a:lstStyle/>
            <a:p>
              <a:pPr algn="ctr">
                <a:lnSpc>
                  <a:spcPts val="2250"/>
                </a:lnSpc>
              </a:pPr>
              <a:r>
                <a:rPr lang="en-US" sz="1875" b="true">
                  <a:solidFill>
                    <a:srgbClr val="4A148C"/>
                  </a:solidFill>
                  <a:latin typeface="Arial Bold"/>
                  <a:ea typeface="Arial Bold"/>
                  <a:cs typeface="Arial Bold"/>
                  <a:sym typeface="Arial Bold"/>
                </a:rPr>
                <a:t>Video</a:t>
              </a:r>
            </a:p>
          </p:txBody>
        </p:sp>
      </p:grpSp>
      <p:grpSp>
        <p:nvGrpSpPr>
          <p:cNvPr name="Group 10" id="10"/>
          <p:cNvGrpSpPr/>
          <p:nvPr/>
        </p:nvGrpSpPr>
        <p:grpSpPr>
          <a:xfrm rot="0">
            <a:off x="6848856" y="7982712"/>
            <a:ext cx="4997196" cy="411480"/>
            <a:chOff x="0" y="0"/>
            <a:chExt cx="6662928" cy="548640"/>
          </a:xfrm>
        </p:grpSpPr>
        <p:sp>
          <p:nvSpPr>
            <p:cNvPr name="Freeform 11" id="11"/>
            <p:cNvSpPr/>
            <p:nvPr/>
          </p:nvSpPr>
          <p:spPr>
            <a:xfrm flipH="false" flipV="false" rot="0">
              <a:off x="0" y="0"/>
              <a:ext cx="6662928" cy="548640"/>
            </a:xfrm>
            <a:custGeom>
              <a:avLst/>
              <a:gdLst/>
              <a:ahLst/>
              <a:cxnLst/>
              <a:rect r="r" b="b" t="t" l="l"/>
              <a:pathLst>
                <a:path h="548640" w="6662928">
                  <a:moveTo>
                    <a:pt x="0" y="0"/>
                  </a:moveTo>
                  <a:lnTo>
                    <a:pt x="6662928" y="0"/>
                  </a:lnTo>
                  <a:lnTo>
                    <a:pt x="6662928" y="548640"/>
                  </a:lnTo>
                  <a:lnTo>
                    <a:pt x="0" y="548640"/>
                  </a:lnTo>
                  <a:close/>
                </a:path>
              </a:pathLst>
            </a:custGeom>
            <a:blipFill>
              <a:blip r:embed="rId3">
                <a:alphaModFix amt="0"/>
              </a:blip>
              <a:stretch>
                <a:fillRect l="0" t="-186634" r="0" b="-186634"/>
              </a:stretch>
            </a:blipFill>
          </p:spPr>
        </p:sp>
        <p:sp>
          <p:nvSpPr>
            <p:cNvPr name="TextBox 12" id="12"/>
            <p:cNvSpPr txBox="true"/>
            <p:nvPr/>
          </p:nvSpPr>
          <p:spPr>
            <a:xfrm>
              <a:off x="0" y="-19050"/>
              <a:ext cx="6662928" cy="567690"/>
            </a:xfrm>
            <a:prstGeom prst="rect">
              <a:avLst/>
            </a:prstGeom>
          </p:spPr>
          <p:txBody>
            <a:bodyPr anchor="ctr" rtlCol="false" tIns="0" lIns="0" bIns="0" rIns="0"/>
            <a:lstStyle/>
            <a:p>
              <a:pPr algn="l">
                <a:lnSpc>
                  <a:spcPts val="2340"/>
                </a:lnSpc>
              </a:pPr>
              <a:r>
                <a:rPr lang="en-US" sz="1950" b="true">
                  <a:solidFill>
                    <a:srgbClr val="FFFFFF"/>
                  </a:solidFill>
                  <a:latin typeface="Arial Bold"/>
                  <a:ea typeface="Arial Bold"/>
                  <a:cs typeface="Arial Bold"/>
                  <a:sym typeface="Arial Bold"/>
                </a:rPr>
                <a:t>Soft sensors</a:t>
              </a:r>
            </a:p>
          </p:txBody>
        </p:sp>
      </p:grpSp>
      <p:grpSp>
        <p:nvGrpSpPr>
          <p:cNvPr name="Group 13" id="13"/>
          <p:cNvGrpSpPr/>
          <p:nvPr/>
        </p:nvGrpSpPr>
        <p:grpSpPr>
          <a:xfrm rot="0">
            <a:off x="6080055" y="534924"/>
            <a:ext cx="5545836" cy="493776"/>
            <a:chOff x="0" y="0"/>
            <a:chExt cx="7394448" cy="658368"/>
          </a:xfrm>
        </p:grpSpPr>
        <p:sp>
          <p:nvSpPr>
            <p:cNvPr name="Freeform 14" id="14"/>
            <p:cNvSpPr/>
            <p:nvPr/>
          </p:nvSpPr>
          <p:spPr>
            <a:xfrm flipH="false" flipV="false" rot="0">
              <a:off x="0" y="0"/>
              <a:ext cx="7394448" cy="658368"/>
            </a:xfrm>
            <a:custGeom>
              <a:avLst/>
              <a:gdLst/>
              <a:ahLst/>
              <a:cxnLst/>
              <a:rect r="r" b="b" t="t" l="l"/>
              <a:pathLst>
                <a:path h="658368" w="7394448">
                  <a:moveTo>
                    <a:pt x="0" y="0"/>
                  </a:moveTo>
                  <a:lnTo>
                    <a:pt x="7394448" y="0"/>
                  </a:lnTo>
                  <a:lnTo>
                    <a:pt x="7394448" y="658368"/>
                  </a:lnTo>
                  <a:lnTo>
                    <a:pt x="0" y="658368"/>
                  </a:lnTo>
                  <a:close/>
                </a:path>
              </a:pathLst>
            </a:custGeom>
            <a:blipFill>
              <a:blip r:embed="rId3">
                <a:alphaModFix amt="0"/>
              </a:blip>
              <a:stretch>
                <a:fillRect l="0" t="-168845" r="0" b="-168845"/>
              </a:stretch>
            </a:blipFill>
          </p:spPr>
        </p:sp>
        <p:sp>
          <p:nvSpPr>
            <p:cNvPr name="TextBox 15" id="15"/>
            <p:cNvSpPr txBox="true"/>
            <p:nvPr/>
          </p:nvSpPr>
          <p:spPr>
            <a:xfrm>
              <a:off x="0" y="-28575"/>
              <a:ext cx="7394448" cy="686943"/>
            </a:xfrm>
            <a:prstGeom prst="rect">
              <a:avLst/>
            </a:prstGeom>
          </p:spPr>
          <p:txBody>
            <a:bodyPr anchor="ctr" rtlCol="false" tIns="0" lIns="0" bIns="0" rIns="0"/>
            <a:lstStyle/>
            <a:p>
              <a:pPr algn="ctr">
                <a:lnSpc>
                  <a:spcPts val="2250"/>
                </a:lnSpc>
              </a:pPr>
              <a:r>
                <a:rPr lang="en-US" sz="1875">
                  <a:solidFill>
                    <a:srgbClr val="A8A8B2"/>
                  </a:solidFill>
                  <a:latin typeface="Arial"/>
                  <a:ea typeface="Arial"/>
                  <a:cs typeface="Arial"/>
                  <a:sym typeface="Arial"/>
                </a:rPr>
                <a:t>Proposed Solution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4000500" y="-4000500"/>
            <a:ext cx="10287000" cy="18288000"/>
            <a:chOff x="0" y="0"/>
            <a:chExt cx="13716000" cy="24384000"/>
          </a:xfrm>
        </p:grpSpPr>
        <p:sp>
          <p:nvSpPr>
            <p:cNvPr name="Freeform 3" id="3" descr="A purple and black background  AI-generated content may be incorrect."/>
            <p:cNvSpPr/>
            <p:nvPr/>
          </p:nvSpPr>
          <p:spPr>
            <a:xfrm flipH="false" flipV="false" rot="0">
              <a:off x="0" y="0"/>
              <a:ext cx="13716000" cy="24384000"/>
            </a:xfrm>
            <a:custGeom>
              <a:avLst/>
              <a:gdLst/>
              <a:ahLst/>
              <a:cxnLst/>
              <a:rect r="r" b="b" t="t" l="l"/>
              <a:pathLst>
                <a:path h="24384000" w="13716000">
                  <a:moveTo>
                    <a:pt x="0" y="0"/>
                  </a:moveTo>
                  <a:lnTo>
                    <a:pt x="13716000" y="0"/>
                  </a:lnTo>
                  <a:lnTo>
                    <a:pt x="13716000" y="24384000"/>
                  </a:lnTo>
                  <a:lnTo>
                    <a:pt x="0" y="24384000"/>
                  </a:lnTo>
                  <a:lnTo>
                    <a:pt x="0" y="0"/>
                  </a:lnTo>
                  <a:close/>
                </a:path>
              </a:pathLst>
            </a:custGeom>
            <a:blipFill>
              <a:blip r:embed="rId2"/>
              <a:stretch>
                <a:fillRect l="0" t="0" r="-88" b="0"/>
              </a:stretch>
            </a:blipFill>
          </p:spPr>
        </p:sp>
      </p:grpSp>
      <p:grpSp>
        <p:nvGrpSpPr>
          <p:cNvPr name="Group 4" id="4"/>
          <p:cNvGrpSpPr/>
          <p:nvPr/>
        </p:nvGrpSpPr>
        <p:grpSpPr>
          <a:xfrm rot="0">
            <a:off x="13547865" y="9644777"/>
            <a:ext cx="3597135" cy="184671"/>
            <a:chOff x="0" y="0"/>
            <a:chExt cx="4796180" cy="246228"/>
          </a:xfrm>
        </p:grpSpPr>
        <p:sp>
          <p:nvSpPr>
            <p:cNvPr name="Freeform 5" id="5"/>
            <p:cNvSpPr/>
            <p:nvPr/>
          </p:nvSpPr>
          <p:spPr>
            <a:xfrm flipH="false" flipV="false" rot="0">
              <a:off x="0" y="0"/>
              <a:ext cx="4796184" cy="246222"/>
            </a:xfrm>
            <a:custGeom>
              <a:avLst/>
              <a:gdLst/>
              <a:ahLst/>
              <a:cxnLst/>
              <a:rect r="r" b="b" t="t" l="l"/>
              <a:pathLst>
                <a:path h="246222" w="4796184">
                  <a:moveTo>
                    <a:pt x="0" y="0"/>
                  </a:moveTo>
                  <a:lnTo>
                    <a:pt x="4796184" y="0"/>
                  </a:lnTo>
                  <a:lnTo>
                    <a:pt x="4796184" y="246222"/>
                  </a:lnTo>
                  <a:lnTo>
                    <a:pt x="0" y="246222"/>
                  </a:lnTo>
                  <a:close/>
                </a:path>
              </a:pathLst>
            </a:custGeom>
            <a:blipFill>
              <a:blip r:embed="rId3">
                <a:alphaModFix amt="0"/>
              </a:blip>
              <a:stretch>
                <a:fillRect l="0" t="-329549" r="0" b="-329551"/>
              </a:stretch>
            </a:blipFill>
          </p:spPr>
        </p:sp>
        <p:sp>
          <p:nvSpPr>
            <p:cNvPr name="TextBox 6" id="6"/>
            <p:cNvSpPr txBox="true"/>
            <p:nvPr/>
          </p:nvSpPr>
          <p:spPr>
            <a:xfrm>
              <a:off x="0" y="-19050"/>
              <a:ext cx="4796180" cy="265278"/>
            </a:xfrm>
            <a:prstGeom prst="rect">
              <a:avLst/>
            </a:prstGeom>
          </p:spPr>
          <p:txBody>
            <a:bodyPr anchor="ctr" rtlCol="false" tIns="0" lIns="0" bIns="0" rIns="0"/>
            <a:lstStyle/>
            <a:p>
              <a:pPr algn="r">
                <a:lnSpc>
                  <a:spcPts val="1439"/>
                </a:lnSpc>
              </a:pPr>
              <a:r>
                <a:rPr lang="en-US" sz="1200">
                  <a:solidFill>
                    <a:srgbClr val="D9D9D9"/>
                  </a:solidFill>
                  <a:latin typeface="Arimo"/>
                  <a:ea typeface="Arimo"/>
                  <a:cs typeface="Arimo"/>
                  <a:sym typeface="Arimo"/>
                </a:rPr>
                <a:t>Copyright © 2026 Accenture. All rights reserved.</a:t>
              </a:r>
            </a:p>
          </p:txBody>
        </p:sp>
      </p:grpSp>
      <p:grpSp>
        <p:nvGrpSpPr>
          <p:cNvPr name="Group 7" id="7"/>
          <p:cNvGrpSpPr/>
          <p:nvPr/>
        </p:nvGrpSpPr>
        <p:grpSpPr>
          <a:xfrm rot="0">
            <a:off x="17528943" y="9644777"/>
            <a:ext cx="187557" cy="184671"/>
            <a:chOff x="0" y="0"/>
            <a:chExt cx="250076" cy="246228"/>
          </a:xfrm>
        </p:grpSpPr>
        <p:sp>
          <p:nvSpPr>
            <p:cNvPr name="Freeform 8" id="8"/>
            <p:cNvSpPr/>
            <p:nvPr/>
          </p:nvSpPr>
          <p:spPr>
            <a:xfrm flipH="false" flipV="false" rot="0">
              <a:off x="0" y="0"/>
              <a:ext cx="250070" cy="246222"/>
            </a:xfrm>
            <a:custGeom>
              <a:avLst/>
              <a:gdLst/>
              <a:ahLst/>
              <a:cxnLst/>
              <a:rect r="r" b="b" t="t" l="l"/>
              <a:pathLst>
                <a:path h="246222" w="250070">
                  <a:moveTo>
                    <a:pt x="0" y="0"/>
                  </a:moveTo>
                  <a:lnTo>
                    <a:pt x="250070" y="0"/>
                  </a:lnTo>
                  <a:lnTo>
                    <a:pt x="250070" y="246222"/>
                  </a:lnTo>
                  <a:lnTo>
                    <a:pt x="0" y="246222"/>
                  </a:lnTo>
                  <a:close/>
                </a:path>
              </a:pathLst>
            </a:custGeom>
            <a:blipFill>
              <a:blip r:embed="rId3">
                <a:alphaModFix amt="0"/>
              </a:blip>
              <a:stretch>
                <a:fillRect l="-76331" t="0" r="-76333" b="-2"/>
              </a:stretch>
            </a:blipFill>
          </p:spPr>
        </p:sp>
        <p:sp>
          <p:nvSpPr>
            <p:cNvPr name="TextBox 9" id="9"/>
            <p:cNvSpPr txBox="true"/>
            <p:nvPr/>
          </p:nvSpPr>
          <p:spPr>
            <a:xfrm>
              <a:off x="0" y="-19050"/>
              <a:ext cx="250076" cy="265278"/>
            </a:xfrm>
            <a:prstGeom prst="rect">
              <a:avLst/>
            </a:prstGeom>
          </p:spPr>
          <p:txBody>
            <a:bodyPr anchor="ctr" rtlCol="false" tIns="0" lIns="0" bIns="0" rIns="0"/>
            <a:lstStyle/>
            <a:p>
              <a:pPr algn="r">
                <a:lnSpc>
                  <a:spcPts val="1439"/>
                </a:lnSpc>
              </a:pPr>
              <a:r>
                <a:rPr lang="en-US" sz="1200">
                  <a:solidFill>
                    <a:srgbClr val="D9D9D9"/>
                  </a:solidFill>
                  <a:latin typeface="Arimo"/>
                  <a:ea typeface="Arimo"/>
                  <a:cs typeface="Arimo"/>
                  <a:sym typeface="Arimo"/>
                </a:rPr>
                <a:t>‹#›</a:t>
              </a:r>
            </a:p>
          </p:txBody>
        </p:sp>
      </p:grpSp>
      <p:grpSp>
        <p:nvGrpSpPr>
          <p:cNvPr name="Group 10" id="10"/>
          <p:cNvGrpSpPr/>
          <p:nvPr/>
        </p:nvGrpSpPr>
        <p:grpSpPr>
          <a:xfrm rot="0">
            <a:off x="842401" y="9575997"/>
            <a:ext cx="274939" cy="301752"/>
            <a:chOff x="0" y="0"/>
            <a:chExt cx="366586" cy="402336"/>
          </a:xfrm>
        </p:grpSpPr>
        <p:sp>
          <p:nvSpPr>
            <p:cNvPr name="Freeform 11" id="11"/>
            <p:cNvSpPr/>
            <p:nvPr/>
          </p:nvSpPr>
          <p:spPr>
            <a:xfrm flipH="false" flipV="false" rot="0">
              <a:off x="0" y="0"/>
              <a:ext cx="366649" cy="402336"/>
            </a:xfrm>
            <a:custGeom>
              <a:avLst/>
              <a:gdLst/>
              <a:ahLst/>
              <a:cxnLst/>
              <a:rect r="r" b="b" t="t" l="l"/>
              <a:pathLst>
                <a:path h="402336" w="366649">
                  <a:moveTo>
                    <a:pt x="0" y="402336"/>
                  </a:moveTo>
                  <a:lnTo>
                    <a:pt x="366649" y="253619"/>
                  </a:lnTo>
                  <a:lnTo>
                    <a:pt x="366649" y="148717"/>
                  </a:lnTo>
                  <a:lnTo>
                    <a:pt x="0" y="0"/>
                  </a:lnTo>
                  <a:lnTo>
                    <a:pt x="0" y="105029"/>
                  </a:lnTo>
                  <a:lnTo>
                    <a:pt x="236982" y="201168"/>
                  </a:lnTo>
                  <a:lnTo>
                    <a:pt x="0" y="297307"/>
                  </a:lnTo>
                  <a:lnTo>
                    <a:pt x="0" y="402336"/>
                  </a:lnTo>
                  <a:close/>
                </a:path>
              </a:pathLst>
            </a:custGeom>
            <a:solidFill>
              <a:srgbClr val="FFFFFF"/>
            </a:solidFill>
          </p:spPr>
        </p:sp>
      </p:grpSp>
      <p:grpSp>
        <p:nvGrpSpPr>
          <p:cNvPr name="Group 12" id="12"/>
          <p:cNvGrpSpPr/>
          <p:nvPr/>
        </p:nvGrpSpPr>
        <p:grpSpPr>
          <a:xfrm rot="0">
            <a:off x="1787023" y="5143500"/>
            <a:ext cx="7785783" cy="1477327"/>
            <a:chOff x="0" y="0"/>
            <a:chExt cx="10381044" cy="1969770"/>
          </a:xfrm>
        </p:grpSpPr>
        <p:sp>
          <p:nvSpPr>
            <p:cNvPr name="Freeform 13" id="13"/>
            <p:cNvSpPr/>
            <p:nvPr/>
          </p:nvSpPr>
          <p:spPr>
            <a:xfrm flipH="false" flipV="false" rot="0">
              <a:off x="0" y="0"/>
              <a:ext cx="10381046" cy="1969770"/>
            </a:xfrm>
            <a:custGeom>
              <a:avLst/>
              <a:gdLst/>
              <a:ahLst/>
              <a:cxnLst/>
              <a:rect r="r" b="b" t="t" l="l"/>
              <a:pathLst>
                <a:path h="1969770" w="10381046">
                  <a:moveTo>
                    <a:pt x="0" y="0"/>
                  </a:moveTo>
                  <a:lnTo>
                    <a:pt x="10381046" y="0"/>
                  </a:lnTo>
                  <a:lnTo>
                    <a:pt x="10381046" y="1969770"/>
                  </a:lnTo>
                  <a:lnTo>
                    <a:pt x="0" y="1969770"/>
                  </a:lnTo>
                  <a:close/>
                </a:path>
              </a:pathLst>
            </a:custGeom>
            <a:blipFill>
              <a:blip r:embed="rId3">
                <a:alphaModFix amt="0"/>
              </a:blip>
              <a:stretch>
                <a:fillRect l="0" t="-52689" r="0" b="-52689"/>
              </a:stretch>
            </a:blipFill>
          </p:spPr>
        </p:sp>
        <p:sp>
          <p:nvSpPr>
            <p:cNvPr name="TextBox 14" id="14"/>
            <p:cNvSpPr txBox="true"/>
            <p:nvPr/>
          </p:nvSpPr>
          <p:spPr>
            <a:xfrm>
              <a:off x="0" y="228600"/>
              <a:ext cx="10381044" cy="1741170"/>
            </a:xfrm>
            <a:prstGeom prst="rect">
              <a:avLst/>
            </a:prstGeom>
          </p:spPr>
          <p:txBody>
            <a:bodyPr anchor="ctr" rtlCol="false" tIns="0" lIns="0" bIns="0" rIns="0"/>
            <a:lstStyle/>
            <a:p>
              <a:pPr algn="l">
                <a:lnSpc>
                  <a:spcPts val="11519"/>
                </a:lnSpc>
              </a:pPr>
              <a:r>
                <a:rPr lang="en-US" sz="12000">
                  <a:solidFill>
                    <a:srgbClr val="FFFFFF"/>
                  </a:solidFill>
                  <a:latin typeface="Arimo"/>
                  <a:ea typeface="Arimo"/>
                  <a:cs typeface="Arimo"/>
                  <a:sym typeface="Arimo"/>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DAHSY8svRNE</dc:identifier>
  <dcterms:modified xsi:type="dcterms:W3CDTF">2011-08-01T06:04:30Z</dcterms:modified>
  <cp:revision>1</cp:revision>
  <dc:title>excenture.pptx</dc:title>
</cp:coreProperties>
</file>